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6" r:id="rId2"/>
    <p:sldId id="297" r:id="rId3"/>
    <p:sldId id="298" r:id="rId4"/>
    <p:sldId id="299" r:id="rId5"/>
    <p:sldId id="301" r:id="rId6"/>
    <p:sldId id="259" r:id="rId7"/>
    <p:sldId id="302" r:id="rId8"/>
    <p:sldId id="303" r:id="rId9"/>
    <p:sldId id="304" r:id="rId10"/>
    <p:sldId id="305" r:id="rId11"/>
    <p:sldId id="275" r:id="rId12"/>
    <p:sldId id="306" r:id="rId13"/>
    <p:sldId id="313" r:id="rId14"/>
    <p:sldId id="314" r:id="rId15"/>
    <p:sldId id="315" r:id="rId16"/>
    <p:sldId id="308" r:id="rId17"/>
    <p:sldId id="309" r:id="rId18"/>
    <p:sldId id="310" r:id="rId19"/>
    <p:sldId id="311" r:id="rId20"/>
    <p:sldId id="3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671616-E99D-43FF-A8E8-4FEF851E5A2E}" v="8" dt="2026-10-04T12:05:51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ều Trịnh" userId="b5e8dd2f7e2de3fe" providerId="LiveId" clId="{093AEDAC-1BDE-401D-83A2-FC1A90DFFFD4}"/>
    <pc:docChg chg="custSel addSld delSld modSld sldOrd">
      <pc:chgData name="Kiều Trịnh" userId="b5e8dd2f7e2de3fe" providerId="LiveId" clId="{093AEDAC-1BDE-401D-83A2-FC1A90DFFFD4}" dt="2026-10-04T12:24:06.726" v="111" actId="478"/>
      <pc:docMkLst>
        <pc:docMk/>
      </pc:docMkLst>
      <pc:sldChg chg="modSp mod">
        <pc:chgData name="Kiều Trịnh" userId="b5e8dd2f7e2de3fe" providerId="LiveId" clId="{093AEDAC-1BDE-401D-83A2-FC1A90DFFFD4}" dt="2026-10-02T15:38:55.241" v="0" actId="1076"/>
        <pc:sldMkLst>
          <pc:docMk/>
          <pc:sldMk cId="2040138523" sldId="259"/>
        </pc:sldMkLst>
        <pc:picChg chg="mod">
          <ac:chgData name="Kiều Trịnh" userId="b5e8dd2f7e2de3fe" providerId="LiveId" clId="{093AEDAC-1BDE-401D-83A2-FC1A90DFFFD4}" dt="2026-10-02T15:38:55.241" v="0" actId="1076"/>
          <ac:picMkLst>
            <pc:docMk/>
            <pc:sldMk cId="2040138523" sldId="259"/>
            <ac:picMk id="3" creationId="{0FD6284B-354A-E65A-A29C-C6C3A685E2C6}"/>
          </ac:picMkLst>
        </pc:picChg>
      </pc:sldChg>
      <pc:sldChg chg="modSp add mod">
        <pc:chgData name="Kiều Trịnh" userId="b5e8dd2f7e2de3fe" providerId="LiveId" clId="{093AEDAC-1BDE-401D-83A2-FC1A90DFFFD4}" dt="2026-10-02T15:42:07.098" v="23" actId="1076"/>
        <pc:sldMkLst>
          <pc:docMk/>
          <pc:sldMk cId="0" sldId="275"/>
        </pc:sldMkLst>
        <pc:spChg chg="mod">
          <ac:chgData name="Kiều Trịnh" userId="b5e8dd2f7e2de3fe" providerId="LiveId" clId="{093AEDAC-1BDE-401D-83A2-FC1A90DFFFD4}" dt="2026-10-02T15:42:07.098" v="23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Kiều Trịnh" userId="b5e8dd2f7e2de3fe" providerId="LiveId" clId="{093AEDAC-1BDE-401D-83A2-FC1A90DFFFD4}" dt="2026-10-02T15:42:02.955" v="22"/>
          <ac:spMkLst>
            <pc:docMk/>
            <pc:sldMk cId="0" sldId="275"/>
            <ac:spMk id="12" creationId="{00000000-0000-0000-0000-000000000000}"/>
          </ac:spMkLst>
        </pc:spChg>
      </pc:sldChg>
      <pc:sldChg chg="addSp modSp new mod">
        <pc:chgData name="Kiều Trịnh" userId="b5e8dd2f7e2de3fe" providerId="LiveId" clId="{093AEDAC-1BDE-401D-83A2-FC1A90DFFFD4}" dt="2026-10-02T15:45:12.236" v="31" actId="14100"/>
        <pc:sldMkLst>
          <pc:docMk/>
          <pc:sldMk cId="4212478552" sldId="302"/>
        </pc:sldMkLst>
        <pc:picChg chg="add mod">
          <ac:chgData name="Kiều Trịnh" userId="b5e8dd2f7e2de3fe" providerId="LiveId" clId="{093AEDAC-1BDE-401D-83A2-FC1A90DFFFD4}" dt="2026-10-02T15:45:09.365" v="29" actId="1076"/>
          <ac:picMkLst>
            <pc:docMk/>
            <pc:sldMk cId="4212478552" sldId="302"/>
            <ac:picMk id="3" creationId="{CBD54CA7-5D92-3D5B-80B8-B49F5D92989A}"/>
          </ac:picMkLst>
        </pc:picChg>
        <pc:picChg chg="add mod">
          <ac:chgData name="Kiều Trịnh" userId="b5e8dd2f7e2de3fe" providerId="LiveId" clId="{093AEDAC-1BDE-401D-83A2-FC1A90DFFFD4}" dt="2026-10-02T15:45:12.236" v="31" actId="14100"/>
          <ac:picMkLst>
            <pc:docMk/>
            <pc:sldMk cId="4212478552" sldId="302"/>
            <ac:picMk id="5" creationId="{5014C2FD-7DFC-F4F3-6AF7-9851E26431F4}"/>
          </ac:picMkLst>
        </pc:picChg>
      </pc:sldChg>
      <pc:sldChg chg="addSp modSp new mod">
        <pc:chgData name="Kiều Trịnh" userId="b5e8dd2f7e2de3fe" providerId="LiveId" clId="{093AEDAC-1BDE-401D-83A2-FC1A90DFFFD4}" dt="2026-10-02T15:40:21.857" v="6" actId="1076"/>
        <pc:sldMkLst>
          <pc:docMk/>
          <pc:sldMk cId="4027335002" sldId="303"/>
        </pc:sldMkLst>
        <pc:picChg chg="add mod">
          <ac:chgData name="Kiều Trịnh" userId="b5e8dd2f7e2de3fe" providerId="LiveId" clId="{093AEDAC-1BDE-401D-83A2-FC1A90DFFFD4}" dt="2026-10-02T15:40:21.857" v="6" actId="1076"/>
          <ac:picMkLst>
            <pc:docMk/>
            <pc:sldMk cId="4027335002" sldId="303"/>
            <ac:picMk id="3" creationId="{7FC09F1A-2F93-A622-E373-CA76E71CC4DD}"/>
          </ac:picMkLst>
        </pc:picChg>
      </pc:sldChg>
      <pc:sldChg chg="addSp delSp modSp new mod">
        <pc:chgData name="Kiều Trịnh" userId="b5e8dd2f7e2de3fe" providerId="LiveId" clId="{093AEDAC-1BDE-401D-83A2-FC1A90DFFFD4}" dt="2026-10-02T15:43:19.828" v="28" actId="1076"/>
        <pc:sldMkLst>
          <pc:docMk/>
          <pc:sldMk cId="2144733661" sldId="304"/>
        </pc:sldMkLst>
        <pc:picChg chg="add mod">
          <ac:chgData name="Kiều Trịnh" userId="b5e8dd2f7e2de3fe" providerId="LiveId" clId="{093AEDAC-1BDE-401D-83A2-FC1A90DFFFD4}" dt="2026-10-02T15:43:19.828" v="28" actId="1076"/>
          <ac:picMkLst>
            <pc:docMk/>
            <pc:sldMk cId="2144733661" sldId="304"/>
            <ac:picMk id="4" creationId="{1EFC88F4-D024-B043-87EC-4DBB3A26C221}"/>
          </ac:picMkLst>
        </pc:picChg>
        <pc:picChg chg="add mod">
          <ac:chgData name="Kiều Trịnh" userId="b5e8dd2f7e2de3fe" providerId="LiveId" clId="{093AEDAC-1BDE-401D-83A2-FC1A90DFFFD4}" dt="2026-10-02T15:43:18.645" v="27" actId="1076"/>
          <ac:picMkLst>
            <pc:docMk/>
            <pc:sldMk cId="2144733661" sldId="304"/>
            <ac:picMk id="6" creationId="{D56CCD1A-221F-D4C4-B6A8-48C8894EAC6F}"/>
          </ac:picMkLst>
        </pc:picChg>
        <pc:picChg chg="add mod">
          <ac:chgData name="Kiều Trịnh" userId="b5e8dd2f7e2de3fe" providerId="LiveId" clId="{093AEDAC-1BDE-401D-83A2-FC1A90DFFFD4}" dt="2026-10-02T15:43:17.395" v="26" actId="1076"/>
          <ac:picMkLst>
            <pc:docMk/>
            <pc:sldMk cId="2144733661" sldId="304"/>
            <ac:picMk id="8" creationId="{5D735C24-5659-2D59-6052-F90B59D5180F}"/>
          </ac:picMkLst>
        </pc:picChg>
      </pc:sldChg>
      <pc:sldChg chg="addSp delSp modSp new mod">
        <pc:chgData name="Kiều Trịnh" userId="b5e8dd2f7e2de3fe" providerId="LiveId" clId="{093AEDAC-1BDE-401D-83A2-FC1A90DFFFD4}" dt="2026-10-02T15:41:41.724" v="21" actId="22"/>
        <pc:sldMkLst>
          <pc:docMk/>
          <pc:sldMk cId="1135350046" sldId="305"/>
        </pc:sldMkLst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8" creationId="{66393C14-10A0-D183-389D-F877CC82B7CE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13" creationId="{D1417F75-5AC5-11E7-1312-6EEFFD0CEF48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20" creationId="{E42A1AB3-E00A-54E6-DA09-C62F5CB5861C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22" creationId="{301FF719-2888-11AD-E2F2-21D8CE633F0C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24" creationId="{AE4AB796-63CC-6533-B843-A77655E7BC6C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33" creationId="{74B4D188-1396-DF35-A852-0EA171110D60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37" creationId="{9B859337-C264-7A06-5FDC-A61F307E226C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44" creationId="{43D1F686-2E84-29A6-2CFB-5FF2C11CCB58}"/>
          </ac:spMkLst>
        </pc:spChg>
        <pc:spChg chg="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51" creationId="{8AB1ADFF-C87D-FFB4-62CD-14BA56B81A21}"/>
          </ac:spMkLst>
        </pc:spChg>
        <pc:spChg chg="add mod">
          <ac:chgData name="Kiều Trịnh" userId="b5e8dd2f7e2de3fe" providerId="LiveId" clId="{093AEDAC-1BDE-401D-83A2-FC1A90DFFFD4}" dt="2026-10-02T15:41:31.102" v="20"/>
          <ac:spMkLst>
            <pc:docMk/>
            <pc:sldMk cId="1135350046" sldId="305"/>
            <ac:spMk id="58" creationId="{6D045F0D-2B4C-67C6-38A8-4A00A9796509}"/>
          </ac:spMkLst>
        </pc:spChg>
        <pc:spChg chg="add">
          <ac:chgData name="Kiều Trịnh" userId="b5e8dd2f7e2de3fe" providerId="LiveId" clId="{093AEDAC-1BDE-401D-83A2-FC1A90DFFFD4}" dt="2026-10-02T15:41:41.724" v="21" actId="22"/>
          <ac:spMkLst>
            <pc:docMk/>
            <pc:sldMk cId="1135350046" sldId="305"/>
            <ac:spMk id="61" creationId="{5AD4692E-C077-59F2-5988-F5883167EC6B}"/>
          </ac:spMkLst>
        </pc:spChg>
      </pc:sldChg>
      <pc:sldChg chg="addSp delSp modSp new mod">
        <pc:chgData name="Kiều Trịnh" userId="b5e8dd2f7e2de3fe" providerId="LiveId" clId="{093AEDAC-1BDE-401D-83A2-FC1A90DFFFD4}" dt="2026-10-04T11:49:11.415" v="34" actId="1076"/>
        <pc:sldMkLst>
          <pc:docMk/>
          <pc:sldMk cId="3268444655" sldId="306"/>
        </pc:sldMkLst>
        <pc:spChg chg="del">
          <ac:chgData name="Kiều Trịnh" userId="b5e8dd2f7e2de3fe" providerId="LiveId" clId="{093AEDAC-1BDE-401D-83A2-FC1A90DFFFD4}" dt="2026-10-04T11:49:10.054" v="33" actId="22"/>
          <ac:spMkLst>
            <pc:docMk/>
            <pc:sldMk cId="3268444655" sldId="306"/>
            <ac:spMk id="3" creationId="{B52B55D1-9234-51D5-AEE8-5196EA9727F1}"/>
          </ac:spMkLst>
        </pc:spChg>
        <pc:picChg chg="add mod ord">
          <ac:chgData name="Kiều Trịnh" userId="b5e8dd2f7e2de3fe" providerId="LiveId" clId="{093AEDAC-1BDE-401D-83A2-FC1A90DFFFD4}" dt="2026-10-04T11:49:11.415" v="34" actId="1076"/>
          <ac:picMkLst>
            <pc:docMk/>
            <pc:sldMk cId="3268444655" sldId="306"/>
            <ac:picMk id="5" creationId="{3C27EF83-EE59-258F-01BB-35C246E8461F}"/>
          </ac:picMkLst>
        </pc:picChg>
      </pc:sldChg>
      <pc:sldChg chg="new del">
        <pc:chgData name="Kiều Trịnh" userId="b5e8dd2f7e2de3fe" providerId="LiveId" clId="{093AEDAC-1BDE-401D-83A2-FC1A90DFFFD4}" dt="2026-10-04T11:55:48.627" v="37" actId="2696"/>
        <pc:sldMkLst>
          <pc:docMk/>
          <pc:sldMk cId="3882703692" sldId="307"/>
        </pc:sldMkLst>
      </pc:sldChg>
      <pc:sldChg chg="addSp modSp new mod">
        <pc:chgData name="Kiều Trịnh" userId="b5e8dd2f7e2de3fe" providerId="LiveId" clId="{093AEDAC-1BDE-401D-83A2-FC1A90DFFFD4}" dt="2026-10-04T11:59:32.237" v="52" actId="255"/>
        <pc:sldMkLst>
          <pc:docMk/>
          <pc:sldMk cId="2670966905" sldId="308"/>
        </pc:sldMkLst>
        <pc:graphicFrameChg chg="add mod modGraphic">
          <ac:chgData name="Kiều Trịnh" userId="b5e8dd2f7e2de3fe" providerId="LiveId" clId="{093AEDAC-1BDE-401D-83A2-FC1A90DFFFD4}" dt="2026-10-04T11:59:32.237" v="52" actId="255"/>
          <ac:graphicFrameMkLst>
            <pc:docMk/>
            <pc:sldMk cId="2670966905" sldId="308"/>
            <ac:graphicFrameMk id="2" creationId="{FA580CA0-5022-7554-D392-5FEFAE314E4C}"/>
          </ac:graphicFrameMkLst>
        </pc:graphicFrameChg>
      </pc:sldChg>
      <pc:sldChg chg="addSp delSp modSp new mod">
        <pc:chgData name="Kiều Trịnh" userId="b5e8dd2f7e2de3fe" providerId="LiveId" clId="{093AEDAC-1BDE-401D-83A2-FC1A90DFFFD4}" dt="2026-10-04T12:24:06.726" v="111" actId="478"/>
        <pc:sldMkLst>
          <pc:docMk/>
          <pc:sldMk cId="3787472823" sldId="309"/>
        </pc:sldMkLst>
        <pc:picChg chg="add del mod">
          <ac:chgData name="Kiều Trịnh" userId="b5e8dd2f7e2de3fe" providerId="LiveId" clId="{093AEDAC-1BDE-401D-83A2-FC1A90DFFFD4}" dt="2026-10-04T12:24:06.726" v="111" actId="478"/>
          <ac:picMkLst>
            <pc:docMk/>
            <pc:sldMk cId="3787472823" sldId="309"/>
            <ac:picMk id="3" creationId="{6788FB44-CCE9-40C1-067F-C6FCF91645E5}"/>
          </ac:picMkLst>
        </pc:picChg>
      </pc:sldChg>
      <pc:sldChg chg="addSp modSp new mod">
        <pc:chgData name="Kiều Trịnh" userId="b5e8dd2f7e2de3fe" providerId="LiveId" clId="{093AEDAC-1BDE-401D-83A2-FC1A90DFFFD4}" dt="2026-10-04T12:04:23.661" v="64" actId="13926"/>
        <pc:sldMkLst>
          <pc:docMk/>
          <pc:sldMk cId="3950732816" sldId="310"/>
        </pc:sldMkLst>
        <pc:spChg chg="add mod">
          <ac:chgData name="Kiều Trịnh" userId="b5e8dd2f7e2de3fe" providerId="LiveId" clId="{093AEDAC-1BDE-401D-83A2-FC1A90DFFFD4}" dt="2026-10-04T12:04:23.661" v="64" actId="13926"/>
          <ac:spMkLst>
            <pc:docMk/>
            <pc:sldMk cId="3950732816" sldId="310"/>
            <ac:spMk id="3" creationId="{8BACC654-3838-80B5-6B0A-B4CA4BBF4BE6}"/>
          </ac:spMkLst>
        </pc:spChg>
      </pc:sldChg>
      <pc:sldChg chg="addSp modSp new mod">
        <pc:chgData name="Kiều Trịnh" userId="b5e8dd2f7e2de3fe" providerId="LiveId" clId="{093AEDAC-1BDE-401D-83A2-FC1A90DFFFD4}" dt="2026-10-04T12:04:54.219" v="67" actId="14100"/>
        <pc:sldMkLst>
          <pc:docMk/>
          <pc:sldMk cId="998112524" sldId="311"/>
        </pc:sldMkLst>
        <pc:graphicFrameChg chg="add mod modGraphic">
          <ac:chgData name="Kiều Trịnh" userId="b5e8dd2f7e2de3fe" providerId="LiveId" clId="{093AEDAC-1BDE-401D-83A2-FC1A90DFFFD4}" dt="2026-10-04T12:04:54.219" v="67" actId="14100"/>
          <ac:graphicFrameMkLst>
            <pc:docMk/>
            <pc:sldMk cId="998112524" sldId="311"/>
            <ac:graphicFrameMk id="2" creationId="{9E3B8981-5BE3-A512-75EF-6E51E023519A}"/>
          </ac:graphicFrameMkLst>
        </pc:graphicFrameChg>
      </pc:sldChg>
      <pc:sldChg chg="addSp modSp new">
        <pc:chgData name="Kiều Trịnh" userId="b5e8dd2f7e2de3fe" providerId="LiveId" clId="{093AEDAC-1BDE-401D-83A2-FC1A90DFFFD4}" dt="2026-10-04T12:05:51.578" v="68"/>
        <pc:sldMkLst>
          <pc:docMk/>
          <pc:sldMk cId="1000247566" sldId="312"/>
        </pc:sldMkLst>
        <pc:graphicFrameChg chg="add mod">
          <ac:chgData name="Kiều Trịnh" userId="b5e8dd2f7e2de3fe" providerId="LiveId" clId="{093AEDAC-1BDE-401D-83A2-FC1A90DFFFD4}" dt="2026-10-04T12:05:51.578" v="68"/>
          <ac:graphicFrameMkLst>
            <pc:docMk/>
            <pc:sldMk cId="1000247566" sldId="312"/>
            <ac:graphicFrameMk id="2" creationId="{4C0BE5F9-CA80-62FA-E5B3-6DDDC24CE1B7}"/>
          </ac:graphicFrameMkLst>
        </pc:graphicFrameChg>
      </pc:sldChg>
      <pc:sldChg chg="addSp delSp modSp new mod ord">
        <pc:chgData name="Kiều Trịnh" userId="b5e8dd2f7e2de3fe" providerId="LiveId" clId="{093AEDAC-1BDE-401D-83A2-FC1A90DFFFD4}" dt="2026-10-04T12:21:58.636" v="96" actId="1076"/>
        <pc:sldMkLst>
          <pc:docMk/>
          <pc:sldMk cId="507825736" sldId="313"/>
        </pc:sldMkLst>
        <pc:picChg chg="add mod">
          <ac:chgData name="Kiều Trịnh" userId="b5e8dd2f7e2de3fe" providerId="LiveId" clId="{093AEDAC-1BDE-401D-83A2-FC1A90DFFFD4}" dt="2026-10-04T12:21:58.636" v="96" actId="1076"/>
          <ac:picMkLst>
            <pc:docMk/>
            <pc:sldMk cId="507825736" sldId="313"/>
            <ac:picMk id="3" creationId="{420D29E7-ECB4-5EBE-E6A0-80772219B9A9}"/>
          </ac:picMkLst>
        </pc:picChg>
        <pc:picChg chg="add del mod">
          <ac:chgData name="Kiều Trịnh" userId="b5e8dd2f7e2de3fe" providerId="LiveId" clId="{093AEDAC-1BDE-401D-83A2-FC1A90DFFFD4}" dt="2026-10-04T12:21:57.478" v="95" actId="478"/>
          <ac:picMkLst>
            <pc:docMk/>
            <pc:sldMk cId="507825736" sldId="313"/>
            <ac:picMk id="5" creationId="{74BDB245-24E6-8601-F146-34520FED2D4B}"/>
          </ac:picMkLst>
        </pc:picChg>
        <pc:picChg chg="add mod">
          <ac:chgData name="Kiều Trịnh" userId="b5e8dd2f7e2de3fe" providerId="LiveId" clId="{093AEDAC-1BDE-401D-83A2-FC1A90DFFFD4}" dt="2026-10-04T12:21:26.540" v="85" actId="1076"/>
          <ac:picMkLst>
            <pc:docMk/>
            <pc:sldMk cId="507825736" sldId="313"/>
            <ac:picMk id="7" creationId="{E0F06D15-B837-ABE8-1BAF-678511FADD4E}"/>
          </ac:picMkLst>
        </pc:picChg>
      </pc:sldChg>
      <pc:sldChg chg="addSp delSp modSp new mod">
        <pc:chgData name="Kiều Trịnh" userId="b5e8dd2f7e2de3fe" providerId="LiveId" clId="{093AEDAC-1BDE-401D-83A2-FC1A90DFFFD4}" dt="2026-10-04T12:22:43.992" v="105" actId="1076"/>
        <pc:sldMkLst>
          <pc:docMk/>
          <pc:sldMk cId="955948294" sldId="314"/>
        </pc:sldMkLst>
        <pc:picChg chg="add mod">
          <ac:chgData name="Kiều Trịnh" userId="b5e8dd2f7e2de3fe" providerId="LiveId" clId="{093AEDAC-1BDE-401D-83A2-FC1A90DFFFD4}" dt="2026-10-04T12:22:41.027" v="103" actId="1076"/>
          <ac:picMkLst>
            <pc:docMk/>
            <pc:sldMk cId="955948294" sldId="314"/>
            <ac:picMk id="3" creationId="{BE52FFA9-8606-1685-C841-1F13A83BED66}"/>
          </ac:picMkLst>
        </pc:picChg>
        <pc:picChg chg="add del mod">
          <ac:chgData name="Kiều Trịnh" userId="b5e8dd2f7e2de3fe" providerId="LiveId" clId="{093AEDAC-1BDE-401D-83A2-FC1A90DFFFD4}" dt="2026-10-04T12:22:37.864" v="100" actId="478"/>
          <ac:picMkLst>
            <pc:docMk/>
            <pc:sldMk cId="955948294" sldId="314"/>
            <ac:picMk id="5" creationId="{A40FAEDF-4C5D-C321-EF1A-C573E5BD2A93}"/>
          </ac:picMkLst>
        </pc:picChg>
        <pc:picChg chg="add mod">
          <ac:chgData name="Kiều Trịnh" userId="b5e8dd2f7e2de3fe" providerId="LiveId" clId="{093AEDAC-1BDE-401D-83A2-FC1A90DFFFD4}" dt="2026-10-04T12:22:43.992" v="105" actId="1076"/>
          <ac:picMkLst>
            <pc:docMk/>
            <pc:sldMk cId="955948294" sldId="314"/>
            <ac:picMk id="7" creationId="{A661F365-CCDD-BBE0-C9E9-2851E828A74E}"/>
          </ac:picMkLst>
        </pc:picChg>
      </pc:sldChg>
      <pc:sldChg chg="addSp delSp modSp new mod">
        <pc:chgData name="Kiều Trịnh" userId="b5e8dd2f7e2de3fe" providerId="LiveId" clId="{093AEDAC-1BDE-401D-83A2-FC1A90DFFFD4}" dt="2026-10-04T12:23:03.244" v="110" actId="1076"/>
        <pc:sldMkLst>
          <pc:docMk/>
          <pc:sldMk cId="1874469504" sldId="315"/>
        </pc:sldMkLst>
        <pc:picChg chg="add mod">
          <ac:chgData name="Kiều Trịnh" userId="b5e8dd2f7e2de3fe" providerId="LiveId" clId="{093AEDAC-1BDE-401D-83A2-FC1A90DFFFD4}" dt="2026-10-04T12:21:55.024" v="93" actId="1076"/>
          <ac:picMkLst>
            <pc:docMk/>
            <pc:sldMk cId="1874469504" sldId="315"/>
            <ac:picMk id="3" creationId="{03BDDCFF-52B2-E16B-8B79-2F9DB8DE1A68}"/>
          </ac:picMkLst>
        </pc:picChg>
        <pc:picChg chg="add del mod">
          <ac:chgData name="Kiều Trịnh" userId="b5e8dd2f7e2de3fe" providerId="LiveId" clId="{093AEDAC-1BDE-401D-83A2-FC1A90DFFFD4}" dt="2026-10-04T12:22:58.087" v="106" actId="478"/>
          <ac:picMkLst>
            <pc:docMk/>
            <pc:sldMk cId="1874469504" sldId="315"/>
            <ac:picMk id="5" creationId="{2D0FC55E-7D32-BD7E-78C3-E28C94FB9AEE}"/>
          </ac:picMkLst>
        </pc:picChg>
        <pc:picChg chg="add mod">
          <ac:chgData name="Kiều Trịnh" userId="b5e8dd2f7e2de3fe" providerId="LiveId" clId="{093AEDAC-1BDE-401D-83A2-FC1A90DFFFD4}" dt="2026-10-04T12:23:03.244" v="110" actId="1076"/>
          <ac:picMkLst>
            <pc:docMk/>
            <pc:sldMk cId="1874469504" sldId="315"/>
            <ac:picMk id="7" creationId="{DFDABC43-10BE-BCC9-2C5F-FD5154262A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819F3-9600-4D01-9FB9-18E9E5BDE9E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650DC-6013-4E5D-AE29-63F9B900C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lcpcb.com/blog/wire-bonding-vs-flip-chip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Wire Bonding vs Flip Chip: Key Differences Explained [2026]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650DC-6013-4E5D-AE29-63F9B900CE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6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58D9-0213-2B52-758A-E53F3A87F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CFC26-C5C9-7CDE-8C8B-40EE7A74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A2F3-584B-438D-1591-2FCAEDD9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B7D82-0887-8B08-C1E7-B23D1D9B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241E8-80BE-6B32-1116-B9A4A506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6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F02A-5F9A-E653-B706-3DA31C10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1FF0-D446-F7E7-C043-BC7EC10B7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9063-77E6-7946-50A6-15CC8D3C0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7ED0-3D84-D61F-20C9-9C8F1840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C471-7BCA-8EA0-99BB-D7DAAFDE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A63A-B4F5-C736-AF84-3B919C9A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610BD-93DB-E08A-69AA-03BAB591C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B9C04-1A09-99FD-1952-BF6BE6FD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EDC1D-B493-847D-44A5-4EECD012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27489-F693-F80D-0067-EF1BC711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6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848C-FDBF-5F69-9957-5954A188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B19C-68A3-AE3A-0788-13B5590AE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7F9CF-0F35-3F75-0463-46674E40F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9C77D-6E0A-4678-8F07-287FCFB3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9A7FD-BAD4-B3C6-8027-CB4E382B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D448D-D48C-DACB-A190-A8C95F30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5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D593-536C-EE37-5FE3-3930224C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352A3-A01B-3AB8-DA02-0DC2C0E91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B1FCB-FB2C-A917-6934-F2C97C32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E3F6B-397D-B988-802B-F9812C142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AF18F-2670-A5F6-333C-DAEF35182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315316-8980-67F0-3C02-0729F39C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F5614-41FA-F24C-231E-C1230C8C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5C924-9062-DDE9-379B-712F4DD5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5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41F3-B417-E242-0099-34B3D96B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8A53E-163C-1457-C584-39D6E990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443EA-8B9D-E4C7-CFCA-09E7582F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95812-8100-5B9F-5924-D985B55F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F2E01-5353-6513-2959-883A7F1F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201D0-E6EE-2693-B199-DA17FE44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D7767-3995-5976-B17A-4155CBB2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55F1-CD35-5B4C-19C5-7D9C9791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9FBC-BF71-3F0C-710A-E9C09771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08523-54BA-C4EC-918C-1A7F03011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A3D69-4888-E84D-FA0A-22B66F61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45341-DD4B-510F-CB95-70F5EDD1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5B5AD-331F-EB7C-0702-A6CF2EE9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8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7DCA-E3F0-332E-FA58-A746A074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F77BB-43AD-E37D-125B-A8938DE8A8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CB7C2-F28C-022E-7417-136FF0956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3718C-0892-345B-1E89-8CB7E03C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6C579-7F07-0BB1-E1EF-8618B7E1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724CC-1EF1-41BB-419E-3C4A8EFA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3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8DC7-30C6-C3CA-B10F-4ACECDF0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29803-D52A-FCD2-CB30-D36B7299A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44634-9537-A661-C8B9-54027F25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01E63-82D5-58DB-864B-1CE84D11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402D-7D19-8908-83FF-D6148110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2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88D15-D3AC-D489-9503-F62273030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D3EFA-3195-31C1-6DDE-D97B4F601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B834C-C4E7-B0AE-2268-3274677D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A8C9-F6FA-D7AF-AE37-230EDB9B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1B2BE-2349-225C-76B0-B06E9196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4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68061-0FFA-929C-DDE8-49F507FA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643F2-393A-BDF7-4438-04BBC4601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27B96-8AB8-8017-2A25-F1BB2EA3C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C66A8-C622-4809-97D0-E6E2D7C28A8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DA331-DF91-39B1-2F9F-3DD3BDC95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E25B0-5169-CCFB-A7F1-849FCC076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29AC8-C62B-4648-9BF1-4C7547DAE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2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528195" y="242358"/>
            <a:ext cx="9131836" cy="694608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/>
          <p:nvPr/>
        </p:nvSpPr>
        <p:spPr>
          <a:xfrm>
            <a:off x="1717047" y="361015"/>
            <a:ext cx="3490657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2774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208" dirty="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sz="277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Floorplanning?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0069" y="1562315"/>
            <a:ext cx="7888588" cy="340559"/>
          </a:xfrm>
          <a:prstGeom prst="rect">
            <a:avLst/>
          </a:prstGeom>
          <a:solidFill>
            <a:srgbClr val="4F696B"/>
          </a:solidFill>
        </p:spPr>
        <p:txBody>
          <a:bodyPr vert="horz" wrap="square" lIns="0" tIns="5033" rIns="0" bIns="0" rtlCol="0">
            <a:spAutoFit/>
          </a:bodyPr>
          <a:lstStyle/>
          <a:p>
            <a:pPr marL="90603">
              <a:spcBef>
                <a:spcPts val="40"/>
              </a:spcBef>
            </a:pPr>
            <a:r>
              <a:rPr sz="2180" spc="-2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endParaRPr sz="218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0069" y="1923461"/>
            <a:ext cx="7888588" cy="724232"/>
          </a:xfrm>
          <a:prstGeom prst="rect">
            <a:avLst/>
          </a:prstGeom>
          <a:solidFill>
            <a:srgbClr val="EDF0F0"/>
          </a:solidFill>
        </p:spPr>
        <p:txBody>
          <a:bodyPr vert="horz" wrap="square" lIns="0" tIns="55367" rIns="0" bIns="0" rtlCol="0">
            <a:spAutoFit/>
          </a:bodyPr>
          <a:lstStyle/>
          <a:p>
            <a:pPr marL="90603" marR="639257">
              <a:lnSpc>
                <a:spcPct val="102600"/>
              </a:lnSpc>
              <a:spcBef>
                <a:spcPts val="436"/>
              </a:spcBef>
            </a:pPr>
            <a:r>
              <a:rPr sz="2180" spc="-79" dirty="0">
                <a:latin typeface="Arial"/>
                <a:cs typeface="Arial"/>
              </a:rPr>
              <a:t>Floorplanning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is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168" dirty="0">
                <a:latin typeface="Arial"/>
                <a:cs typeface="Arial"/>
              </a:rPr>
              <a:t>process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69" dirty="0">
                <a:latin typeface="Arial"/>
                <a:cs typeface="Arial"/>
              </a:rPr>
              <a:t>deriving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die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size,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allocating </a:t>
            </a:r>
            <a:r>
              <a:rPr sz="2180" spc="-178" dirty="0">
                <a:latin typeface="Arial"/>
                <a:cs typeface="Arial"/>
              </a:rPr>
              <a:t>space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for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soft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69" dirty="0">
                <a:latin typeface="Arial"/>
                <a:cs typeface="Arial"/>
              </a:rPr>
              <a:t>blocks,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planning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power,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and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macro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placement.</a:t>
            </a:r>
            <a:endParaRPr sz="218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36767" y="3676490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036767" y="4092703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036767" y="4508915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036767" y="4925125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036767" y="5341337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036767" y="5757547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 txBox="1"/>
          <p:nvPr/>
        </p:nvSpPr>
        <p:spPr>
          <a:xfrm>
            <a:off x="1721778" y="2741585"/>
            <a:ext cx="3748619" cy="317990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/>
                <a:cs typeface="Arial"/>
              </a:rPr>
              <a:t>With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a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top-</a:t>
            </a:r>
            <a:r>
              <a:rPr sz="2180" spc="-40" dirty="0">
                <a:latin typeface="Arial"/>
                <a:cs typeface="Arial"/>
              </a:rPr>
              <a:t>level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netlist,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you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can </a:t>
            </a:r>
            <a:r>
              <a:rPr sz="2180" dirty="0">
                <a:latin typeface="Arial"/>
                <a:cs typeface="Arial"/>
              </a:rPr>
              <a:t>start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to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floorplan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chip.</a:t>
            </a:r>
            <a:endParaRPr sz="2180">
              <a:latin typeface="Arial"/>
              <a:cs typeface="Arial"/>
            </a:endParaRPr>
          </a:p>
          <a:p>
            <a:pPr marL="573821" marR="1322557">
              <a:lnSpc>
                <a:spcPct val="125299"/>
              </a:lnSpc>
            </a:pPr>
            <a:r>
              <a:rPr sz="2180" spc="-69" dirty="0">
                <a:latin typeface="Arial"/>
                <a:cs typeface="Arial"/>
              </a:rPr>
              <a:t>Define </a:t>
            </a:r>
            <a:r>
              <a:rPr sz="2180" spc="-20" dirty="0">
                <a:latin typeface="Arial"/>
                <a:cs typeface="Arial"/>
              </a:rPr>
              <a:t>Die</a:t>
            </a:r>
            <a:r>
              <a:rPr sz="2180" spc="-69" dirty="0">
                <a:latin typeface="Arial"/>
                <a:cs typeface="Arial"/>
              </a:rPr>
              <a:t> </a:t>
            </a:r>
            <a:r>
              <a:rPr sz="2180" spc="-149" dirty="0">
                <a:latin typeface="Arial"/>
                <a:cs typeface="Arial"/>
              </a:rPr>
              <a:t>Size. </a:t>
            </a:r>
            <a:r>
              <a:rPr sz="2180" spc="-119" dirty="0">
                <a:latin typeface="Arial"/>
                <a:cs typeface="Arial"/>
              </a:rPr>
              <a:t>Place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IOs.</a:t>
            </a:r>
            <a:endParaRPr sz="2180">
              <a:latin typeface="Arial"/>
              <a:cs typeface="Arial"/>
            </a:endParaRPr>
          </a:p>
          <a:p>
            <a:pPr marL="573821" marR="123321">
              <a:lnSpc>
                <a:spcPct val="125299"/>
              </a:lnSpc>
            </a:pPr>
            <a:r>
              <a:rPr sz="2180" spc="-69" dirty="0">
                <a:latin typeface="Arial"/>
                <a:cs typeface="Arial"/>
              </a:rPr>
              <a:t>Perform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macro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99" dirty="0">
                <a:latin typeface="Arial"/>
                <a:cs typeface="Arial"/>
              </a:rPr>
              <a:t>placement. </a:t>
            </a:r>
            <a:r>
              <a:rPr sz="2180" spc="-69" dirty="0">
                <a:latin typeface="Arial"/>
                <a:cs typeface="Arial"/>
              </a:rPr>
              <a:t>Perform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power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planning. </a:t>
            </a:r>
            <a:r>
              <a:rPr sz="2180" spc="-139" dirty="0">
                <a:latin typeface="Arial"/>
                <a:cs typeface="Arial"/>
              </a:rPr>
              <a:t>Power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domain</a:t>
            </a:r>
            <a:r>
              <a:rPr sz="2180" spc="-20" dirty="0">
                <a:latin typeface="Arial"/>
                <a:cs typeface="Arial"/>
              </a:rPr>
              <a:t> definition </a:t>
            </a:r>
            <a:r>
              <a:rPr sz="2180" spc="-69" dirty="0">
                <a:latin typeface="Arial"/>
                <a:cs typeface="Arial"/>
              </a:rPr>
              <a:t>Flip-</a:t>
            </a:r>
            <a:r>
              <a:rPr sz="2180" dirty="0">
                <a:latin typeface="Arial"/>
                <a:cs typeface="Arial"/>
              </a:rPr>
              <a:t>chip</a:t>
            </a:r>
            <a:r>
              <a:rPr sz="2180" spc="-69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bump</a:t>
            </a:r>
            <a:r>
              <a:rPr sz="2180" spc="-69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placement</a:t>
            </a:r>
            <a:endParaRPr sz="218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3157" y="3325799"/>
            <a:ext cx="4399429" cy="2494457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515478" y="3347568"/>
            <a:ext cx="6940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Ahmed</a:t>
            </a:r>
            <a:r>
              <a:rPr lang="en-US" spc="-15"/>
              <a:t> </a:t>
            </a:r>
            <a:r>
              <a:rPr lang="en-US" spc="-20"/>
              <a:t>Abdelazeem</a:t>
            </a:r>
            <a:endParaRPr spc="-40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6244" y="-8446"/>
            <a:ext cx="839319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sz="1189" spc="73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Floor</a:t>
            </a:r>
            <a:endParaRPr sz="1189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3910" y="-23"/>
            <a:ext cx="4566547" cy="242861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54707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6282764" y="-8445"/>
            <a:ext cx="1377892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Floor</a:t>
            </a:r>
            <a:r>
              <a:rPr sz="1189" spc="6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Macro</a:t>
            </a:r>
            <a:r>
              <a:rPr sz="1189" spc="614" dirty="0">
                <a:solidFill>
                  <a:srgbClr val="A9B7B8"/>
                </a:solidFill>
                <a:latin typeface="Arial"/>
                <a:cs typeface="Arial"/>
              </a:rPr>
              <a:t> </a:t>
            </a:r>
            <a:r>
              <a:rPr sz="1189" spc="-50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PAD</a:t>
            </a:r>
            <a:endParaRPr sz="1189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8195" y="242358"/>
            <a:ext cx="9131836" cy="694608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/>
          <p:nvPr/>
        </p:nvSpPr>
        <p:spPr>
          <a:xfrm>
            <a:off x="1717046" y="361015"/>
            <a:ext cx="2047331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Floorplanning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1399" y="1554512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 txBox="1"/>
          <p:nvPr/>
        </p:nvSpPr>
        <p:spPr>
          <a:xfrm>
            <a:off x="2765528" y="1376806"/>
            <a:ext cx="7137353" cy="4714110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270552">
              <a:lnSpc>
                <a:spcPct val="102600"/>
              </a:lnSpc>
              <a:spcBef>
                <a:spcPts val="109"/>
              </a:spcBef>
            </a:pPr>
            <a:r>
              <a:rPr sz="2180" spc="-79" dirty="0">
                <a:latin typeface="Arial"/>
                <a:cs typeface="Arial"/>
              </a:rPr>
              <a:t>Floorplanning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99" dirty="0">
                <a:latin typeface="Arial"/>
                <a:cs typeface="Arial"/>
              </a:rPr>
              <a:t>consists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defining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49" dirty="0">
                <a:solidFill>
                  <a:srgbClr val="FF0000"/>
                </a:solidFill>
                <a:latin typeface="Arial"/>
                <a:cs typeface="Arial"/>
              </a:rPr>
              <a:t>Core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0000"/>
                </a:solidFill>
                <a:latin typeface="Arial"/>
                <a:cs typeface="Arial"/>
              </a:rPr>
              <a:t>Placement</a:t>
            </a:r>
            <a:r>
              <a:rPr sz="218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79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2180" spc="-79" dirty="0">
                <a:latin typeface="Arial"/>
                <a:cs typeface="Arial"/>
              </a:rPr>
              <a:t>,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0000"/>
                </a:solidFill>
                <a:latin typeface="Arial"/>
                <a:cs typeface="Arial"/>
              </a:rPr>
              <a:t>Periphery</a:t>
            </a:r>
            <a:r>
              <a:rPr sz="218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149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and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79" dirty="0">
                <a:solidFill>
                  <a:srgbClr val="FF0000"/>
                </a:solidFill>
                <a:latin typeface="Arial"/>
                <a:cs typeface="Arial"/>
              </a:rPr>
              <a:t>Power/Ground</a:t>
            </a:r>
            <a:r>
              <a:rPr sz="2180" spc="-20" dirty="0">
                <a:solidFill>
                  <a:srgbClr val="FF0000"/>
                </a:solidFill>
                <a:latin typeface="Arial"/>
                <a:cs typeface="Arial"/>
              </a:rPr>
              <a:t> grid</a:t>
            </a:r>
            <a:r>
              <a:rPr sz="2180" spc="-20" dirty="0">
                <a:latin typeface="Arial"/>
                <a:cs typeface="Arial"/>
              </a:rPr>
              <a:t>.</a:t>
            </a:r>
            <a:endParaRPr sz="2180">
              <a:latin typeface="Arial"/>
              <a:cs typeface="Arial"/>
            </a:endParaRPr>
          </a:p>
          <a:p>
            <a:pPr marL="25168" marR="156039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Arial"/>
                <a:cs typeface="Arial"/>
              </a:rPr>
              <a:t>The</a:t>
            </a:r>
            <a:r>
              <a:rPr sz="2180" spc="-79" dirty="0">
                <a:latin typeface="Arial"/>
                <a:cs typeface="Arial"/>
              </a:rPr>
              <a:t> </a:t>
            </a:r>
            <a:r>
              <a:rPr sz="2180" spc="-149" dirty="0">
                <a:latin typeface="Arial"/>
                <a:cs typeface="Arial"/>
              </a:rPr>
              <a:t>Core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Placement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49" dirty="0">
                <a:latin typeface="Arial"/>
                <a:cs typeface="Arial"/>
              </a:rPr>
              <a:t>area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99" dirty="0">
                <a:latin typeface="Arial"/>
                <a:cs typeface="Arial"/>
              </a:rPr>
              <a:t>consists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0000"/>
                </a:solidFill>
                <a:latin typeface="Arial"/>
                <a:cs typeface="Arial"/>
              </a:rPr>
              <a:t>Placement</a:t>
            </a:r>
            <a:r>
              <a:rPr sz="218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178" dirty="0">
                <a:solidFill>
                  <a:srgbClr val="FF0000"/>
                </a:solidFill>
                <a:latin typeface="Arial"/>
                <a:cs typeface="Arial"/>
              </a:rPr>
              <a:t>Rows</a:t>
            </a:r>
            <a:r>
              <a:rPr sz="218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where standard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and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macro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are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placed.</a:t>
            </a:r>
            <a:endParaRPr sz="2180">
              <a:latin typeface="Arial"/>
              <a:cs typeface="Arial"/>
            </a:endParaRPr>
          </a:p>
          <a:p>
            <a:pPr marL="25168" marR="13842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Arial"/>
                <a:cs typeface="Arial"/>
              </a:rPr>
              <a:t>A</a:t>
            </a:r>
            <a:r>
              <a:rPr sz="2180" spc="5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placement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row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spc="-99" dirty="0">
                <a:latin typeface="Arial"/>
                <a:cs typeface="Arial"/>
              </a:rPr>
              <a:t>consists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a</a:t>
            </a:r>
            <a:r>
              <a:rPr sz="2180" spc="5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row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“unit</a:t>
            </a:r>
            <a:r>
              <a:rPr sz="2180" spc="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tile”</a:t>
            </a:r>
            <a:r>
              <a:rPr sz="2180" spc="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spc="5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(part</a:t>
            </a:r>
            <a:r>
              <a:rPr sz="2180" spc="59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of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standard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cell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library, </a:t>
            </a:r>
            <a:r>
              <a:rPr sz="2180" dirty="0">
                <a:latin typeface="Arial"/>
                <a:cs typeface="Arial"/>
              </a:rPr>
              <a:t>width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defined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by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minimum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metal </a:t>
            </a:r>
            <a:r>
              <a:rPr sz="2180" dirty="0">
                <a:latin typeface="Arial"/>
                <a:cs typeface="Arial"/>
              </a:rPr>
              <a:t>pitch).</a:t>
            </a:r>
            <a:r>
              <a:rPr sz="2180" spc="178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Standard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are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placed</a:t>
            </a:r>
            <a:r>
              <a:rPr sz="2180" dirty="0">
                <a:latin typeface="Arial"/>
                <a:cs typeface="Arial"/>
              </a:rPr>
              <a:t> in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 </a:t>
            </a:r>
            <a:r>
              <a:rPr sz="2180" spc="-119" dirty="0">
                <a:latin typeface="Arial"/>
                <a:cs typeface="Arial"/>
              </a:rPr>
              <a:t>core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a </a:t>
            </a:r>
            <a:r>
              <a:rPr sz="2180" spc="-40" dirty="0">
                <a:latin typeface="Arial"/>
                <a:cs typeface="Arial"/>
              </a:rPr>
              <a:t>chip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and </a:t>
            </a:r>
            <a:r>
              <a:rPr sz="2180" spc="-89" dirty="0">
                <a:latin typeface="Arial"/>
                <a:cs typeface="Arial"/>
              </a:rPr>
              <a:t>occupy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specific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tile(s)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within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placement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69" dirty="0">
                <a:latin typeface="Arial"/>
                <a:cs typeface="Arial"/>
              </a:rPr>
              <a:t>rows.</a:t>
            </a:r>
            <a:r>
              <a:rPr sz="2180" spc="188" dirty="0"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18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40" dirty="0">
                <a:solidFill>
                  <a:srgbClr val="FF0000"/>
                </a:solidFill>
                <a:latin typeface="Arial"/>
                <a:cs typeface="Arial"/>
              </a:rPr>
              <a:t>standard cell</a:t>
            </a:r>
            <a:r>
              <a:rPr sz="2180" spc="-10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99" dirty="0">
                <a:solidFill>
                  <a:srgbClr val="FF0000"/>
                </a:solidFill>
                <a:latin typeface="Arial"/>
                <a:cs typeface="Arial"/>
              </a:rPr>
              <a:t>may</a:t>
            </a:r>
            <a:r>
              <a:rPr sz="218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0000"/>
                </a:solidFill>
                <a:latin typeface="Arial"/>
                <a:cs typeface="Arial"/>
              </a:rPr>
              <a:t>occupy</a:t>
            </a:r>
            <a:r>
              <a:rPr sz="2180" spc="-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180" spc="-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99" dirty="0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sz="218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180" spc="-6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20" dirty="0">
                <a:solidFill>
                  <a:srgbClr val="FF0000"/>
                </a:solidFill>
                <a:latin typeface="Arial"/>
                <a:cs typeface="Arial"/>
              </a:rPr>
              <a:t>multiple</a:t>
            </a:r>
            <a:r>
              <a:rPr sz="2180" spc="-5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20" dirty="0">
                <a:solidFill>
                  <a:srgbClr val="FF0000"/>
                </a:solidFill>
                <a:latin typeface="Arial"/>
                <a:cs typeface="Arial"/>
              </a:rPr>
              <a:t>tiles</a:t>
            </a:r>
            <a:r>
              <a:rPr sz="2180" spc="-20" dirty="0">
                <a:latin typeface="Arial"/>
                <a:cs typeface="Arial"/>
              </a:rPr>
              <a:t>.</a:t>
            </a:r>
            <a:endParaRPr sz="2180">
              <a:latin typeface="Arial"/>
              <a:cs typeface="Arial"/>
            </a:endParaRPr>
          </a:p>
          <a:p>
            <a:pPr marL="25168" marR="10067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Arial"/>
                <a:cs typeface="Arial"/>
              </a:rPr>
              <a:t>The </a:t>
            </a:r>
            <a:r>
              <a:rPr sz="2180" spc="-89" dirty="0">
                <a:latin typeface="Arial"/>
                <a:cs typeface="Arial"/>
              </a:rPr>
              <a:t>pad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dirty="0">
                <a:latin typeface="Arial"/>
                <a:cs typeface="Arial"/>
              </a:rPr>
              <a:t> (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input, output, </a:t>
            </a:r>
            <a:r>
              <a:rPr sz="2180" spc="-40" dirty="0">
                <a:solidFill>
                  <a:srgbClr val="FF0000"/>
                </a:solidFill>
                <a:latin typeface="Arial"/>
                <a:cs typeface="Arial"/>
              </a:rPr>
              <a:t>bi-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dir, </a:t>
            </a:r>
            <a:r>
              <a:rPr sz="2180" spc="-119" dirty="0">
                <a:solidFill>
                  <a:srgbClr val="FF0000"/>
                </a:solidFill>
                <a:latin typeface="Arial"/>
                <a:cs typeface="Arial"/>
              </a:rPr>
              <a:t>power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89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18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69" dirty="0">
                <a:solidFill>
                  <a:srgbClr val="FF0000"/>
                </a:solidFill>
                <a:latin typeface="Arial"/>
                <a:cs typeface="Arial"/>
              </a:rPr>
              <a:t>ground</a:t>
            </a:r>
            <a:r>
              <a:rPr sz="2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80" spc="-20" dirty="0">
                <a:solidFill>
                  <a:srgbClr val="FF0000"/>
                </a:solidFill>
                <a:latin typeface="Arial"/>
                <a:cs typeface="Arial"/>
              </a:rPr>
              <a:t>pads</a:t>
            </a:r>
            <a:r>
              <a:rPr sz="2180" spc="-20" dirty="0">
                <a:latin typeface="Arial"/>
                <a:cs typeface="Arial"/>
              </a:rPr>
              <a:t>) </a:t>
            </a:r>
            <a:r>
              <a:rPr sz="2180" spc="-119" dirty="0">
                <a:latin typeface="Arial"/>
                <a:cs typeface="Arial"/>
              </a:rPr>
              <a:t>are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109" dirty="0">
                <a:latin typeface="Arial"/>
                <a:cs typeface="Arial"/>
              </a:rPr>
              <a:t>placed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in</a:t>
            </a:r>
            <a:r>
              <a:rPr sz="2180" spc="-8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Periphery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Area,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which </a:t>
            </a:r>
            <a:r>
              <a:rPr sz="2180" spc="-20" dirty="0">
                <a:latin typeface="Arial"/>
                <a:cs typeface="Arial"/>
              </a:rPr>
              <a:t>is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defined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by</a:t>
            </a:r>
            <a:r>
              <a:rPr sz="2180" spc="-59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area </a:t>
            </a:r>
            <a:r>
              <a:rPr sz="2180" spc="-89" dirty="0">
                <a:latin typeface="Arial"/>
                <a:cs typeface="Arial"/>
              </a:rPr>
              <a:t>around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outside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boundary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core,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usually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39" dirty="0">
                <a:latin typeface="Arial"/>
                <a:cs typeface="Arial"/>
              </a:rPr>
              <a:t>separated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by </a:t>
            </a:r>
            <a:r>
              <a:rPr sz="2180" dirty="0">
                <a:latin typeface="Arial"/>
                <a:cs typeface="Arial"/>
              </a:rPr>
              <a:t>a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“core-</a:t>
            </a:r>
            <a:r>
              <a:rPr sz="2180" dirty="0">
                <a:latin typeface="Arial"/>
                <a:cs typeface="Arial"/>
              </a:rPr>
              <a:t>to-pad”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spc="-109" dirty="0">
                <a:latin typeface="Arial"/>
                <a:cs typeface="Arial"/>
              </a:rPr>
              <a:t>spacing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distance.</a:t>
            </a:r>
            <a:endParaRPr sz="218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31399" y="2311711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531399" y="3068910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531399" y="4849095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grpSp>
        <p:nvGrpSpPr>
          <p:cNvPr id="12" name="object 12"/>
          <p:cNvGrpSpPr/>
          <p:nvPr/>
        </p:nvGrpSpPr>
        <p:grpSpPr>
          <a:xfrm>
            <a:off x="1528195" y="6606205"/>
            <a:ext cx="9131836" cy="242861"/>
            <a:chOff x="0" y="3333686"/>
            <a:chExt cx="4608195" cy="122555"/>
          </a:xfrm>
        </p:grpSpPr>
        <p:sp>
          <p:nvSpPr>
            <p:cNvPr id="13" name="object 13"/>
            <p:cNvSpPr/>
            <p:nvPr/>
          </p:nvSpPr>
          <p:spPr>
            <a:xfrm>
              <a:off x="0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54707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1515478" y="3347568"/>
            <a:ext cx="6940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Ahmed</a:t>
            </a:r>
            <a:r>
              <a:rPr lang="en-US" spc="-15"/>
              <a:t> </a:t>
            </a:r>
            <a:r>
              <a:rPr lang="en-US" spc="-20"/>
              <a:t>Abdelazeem</a:t>
            </a:r>
            <a:endParaRPr spc="-40" dirty="0"/>
          </a:p>
        </p:txBody>
      </p:sp>
      <p:sp>
        <p:nvSpPr>
          <p:cNvPr id="16" name="object 16"/>
          <p:cNvSpPr txBox="1"/>
          <p:nvPr/>
        </p:nvSpPr>
        <p:spPr>
          <a:xfrm>
            <a:off x="6282764" y="6633714"/>
            <a:ext cx="149114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338"/>
              </a:lnSpc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ASIC</a:t>
            </a:r>
            <a:r>
              <a:rPr sz="1189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Physical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endParaRPr sz="1189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6244" y="-8446"/>
            <a:ext cx="839319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sz="1189" spc="73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Floor</a:t>
            </a:r>
            <a:endParaRPr sz="1189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3910" y="-23"/>
            <a:ext cx="4566547" cy="242861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54707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6282764" y="-8445"/>
            <a:ext cx="1377892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Floor</a:t>
            </a:r>
            <a:r>
              <a:rPr sz="1189" spc="6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Macro</a:t>
            </a:r>
            <a:r>
              <a:rPr sz="1189" spc="614" dirty="0">
                <a:solidFill>
                  <a:srgbClr val="A9B7B8"/>
                </a:solidFill>
                <a:latin typeface="Arial"/>
                <a:cs typeface="Arial"/>
              </a:rPr>
              <a:t> </a:t>
            </a:r>
            <a:r>
              <a:rPr sz="1189" spc="-50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PAD</a:t>
            </a:r>
            <a:endParaRPr sz="1189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8195" y="242358"/>
            <a:ext cx="9131836" cy="694608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/>
          <p:nvPr/>
        </p:nvSpPr>
        <p:spPr>
          <a:xfrm>
            <a:off x="1717046" y="361015"/>
            <a:ext cx="4011615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dirty="0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20" dirty="0">
                <a:solidFill>
                  <a:srgbClr val="FFFFFF"/>
                </a:solidFill>
                <a:latin typeface="Tahoma"/>
                <a:cs typeface="Tahoma"/>
              </a:rPr>
              <a:t>Sites</a:t>
            </a:r>
            <a:r>
              <a:rPr sz="2774" spc="-8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774" spc="-9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Rows?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50069" y="1271812"/>
            <a:ext cx="7888588" cy="171135"/>
          </a:xfrm>
          <a:custGeom>
            <a:avLst/>
            <a:gdLst/>
            <a:ahLst/>
            <a:cxnLst/>
            <a:rect l="l" t="t" r="r" b="b"/>
            <a:pathLst>
              <a:path w="3980815" h="86359">
                <a:moveTo>
                  <a:pt x="0" y="86042"/>
                </a:moveTo>
                <a:lnTo>
                  <a:pt x="3980370" y="86042"/>
                </a:lnTo>
                <a:lnTo>
                  <a:pt x="3980370" y="0"/>
                </a:lnTo>
                <a:lnTo>
                  <a:pt x="0" y="0"/>
                </a:lnTo>
                <a:lnTo>
                  <a:pt x="0" y="86042"/>
                </a:lnTo>
                <a:close/>
              </a:path>
            </a:pathLst>
          </a:custGeom>
          <a:solidFill>
            <a:srgbClr val="4F696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 txBox="1"/>
          <p:nvPr/>
        </p:nvSpPr>
        <p:spPr>
          <a:xfrm>
            <a:off x="2150069" y="1442320"/>
            <a:ext cx="7888588" cy="1069775"/>
          </a:xfrm>
          <a:prstGeom prst="rect">
            <a:avLst/>
          </a:prstGeom>
          <a:solidFill>
            <a:srgbClr val="EDF0F0"/>
          </a:solidFill>
        </p:spPr>
        <p:txBody>
          <a:bodyPr vert="horz" wrap="square" lIns="0" tIns="55367" rIns="0" bIns="0" rtlCol="0">
            <a:spAutoFit/>
          </a:bodyPr>
          <a:lstStyle/>
          <a:p>
            <a:pPr marL="90603" marR="76761">
              <a:lnSpc>
                <a:spcPct val="102600"/>
              </a:lnSpc>
              <a:spcBef>
                <a:spcPts val="436"/>
              </a:spcBef>
            </a:pPr>
            <a:r>
              <a:rPr sz="2180" dirty="0">
                <a:latin typeface="Arial"/>
                <a:cs typeface="Arial"/>
              </a:rPr>
              <a:t>A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site</a:t>
            </a:r>
            <a:r>
              <a:rPr sz="2180" spc="-20" dirty="0">
                <a:latin typeface="Arial"/>
                <a:cs typeface="Arial"/>
              </a:rPr>
              <a:t> is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minimum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unit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placement.</a:t>
            </a:r>
            <a:r>
              <a:rPr sz="2180" spc="198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It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129" dirty="0">
                <a:latin typeface="Arial"/>
                <a:cs typeface="Arial"/>
              </a:rPr>
              <a:t>represents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a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slot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where </a:t>
            </a:r>
            <a:r>
              <a:rPr sz="2180" dirty="0">
                <a:latin typeface="Arial"/>
                <a:cs typeface="Arial"/>
              </a:rPr>
              <a:t>a</a:t>
            </a:r>
            <a:r>
              <a:rPr sz="2180" spc="-79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cell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can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be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79" dirty="0">
                <a:latin typeface="Arial"/>
                <a:cs typeface="Arial"/>
              </a:rPr>
              <a:t>placed.</a:t>
            </a:r>
            <a:r>
              <a:rPr sz="2180" spc="168" dirty="0">
                <a:latin typeface="Arial"/>
                <a:cs typeface="Arial"/>
              </a:rPr>
              <a:t> </a:t>
            </a:r>
            <a:r>
              <a:rPr sz="2180" spc="-178" dirty="0">
                <a:latin typeface="Arial"/>
                <a:cs typeface="Arial"/>
              </a:rPr>
              <a:t>Rows</a:t>
            </a:r>
            <a:r>
              <a:rPr sz="2180" spc="3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are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multiples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99" dirty="0">
                <a:latin typeface="Arial"/>
                <a:cs typeface="Arial"/>
              </a:rPr>
              <a:t>sites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and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define </a:t>
            </a:r>
            <a:r>
              <a:rPr sz="2180" spc="-59" dirty="0">
                <a:latin typeface="Arial"/>
                <a:cs typeface="Arial"/>
              </a:rPr>
              <a:t>locations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spc="-129" dirty="0">
                <a:latin typeface="Arial"/>
                <a:cs typeface="Arial"/>
              </a:rPr>
              <a:t>where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placement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tool</a:t>
            </a:r>
            <a:r>
              <a:rPr sz="2180" spc="20" dirty="0">
                <a:latin typeface="Arial"/>
                <a:cs typeface="Arial"/>
              </a:rPr>
              <a:t> </a:t>
            </a:r>
            <a:r>
              <a:rPr sz="2180" spc="-149" dirty="0">
                <a:latin typeface="Arial"/>
                <a:cs typeface="Arial"/>
              </a:rPr>
              <a:t>places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cells.</a:t>
            </a:r>
            <a:endParaRPr sz="218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6411" y="2705974"/>
            <a:ext cx="7599167" cy="137338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spc="-89" dirty="0">
                <a:latin typeface="Arial"/>
                <a:cs typeface="Arial"/>
              </a:rPr>
              <a:t>Placement</a:t>
            </a:r>
            <a:r>
              <a:rPr sz="2180" spc="-5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tools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place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cells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in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spc="-69" dirty="0">
                <a:latin typeface="Arial"/>
                <a:cs typeface="Arial"/>
              </a:rPr>
              <a:t>locations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defined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by</a:t>
            </a:r>
            <a:r>
              <a:rPr sz="2180" spc="-3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the</a:t>
            </a:r>
            <a:r>
              <a:rPr sz="2180" spc="-4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cell’s </a:t>
            </a:r>
            <a:r>
              <a:rPr sz="2180" spc="-69" dirty="0">
                <a:latin typeface="Arial"/>
                <a:cs typeface="Arial"/>
              </a:rPr>
              <a:t>description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in the </a:t>
            </a:r>
            <a:r>
              <a:rPr sz="2180" spc="-69" dirty="0">
                <a:latin typeface="Arial"/>
                <a:cs typeface="Arial"/>
              </a:rPr>
              <a:t>LEF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file.</a:t>
            </a:r>
            <a:r>
              <a:rPr sz="2180" spc="198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If a </a:t>
            </a:r>
            <a:r>
              <a:rPr sz="2180" spc="-40" dirty="0">
                <a:latin typeface="Arial"/>
                <a:cs typeface="Arial"/>
              </a:rPr>
              <a:t>cell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is</a:t>
            </a:r>
            <a:r>
              <a:rPr sz="2180" dirty="0">
                <a:latin typeface="Arial"/>
                <a:cs typeface="Arial"/>
              </a:rPr>
              <a:t> of </a:t>
            </a:r>
            <a:r>
              <a:rPr sz="2180" spc="-20" dirty="0">
                <a:latin typeface="Arial"/>
                <a:cs typeface="Arial"/>
              </a:rPr>
              <a:t>type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CORE,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then</a:t>
            </a:r>
            <a:r>
              <a:rPr sz="2180" dirty="0">
                <a:latin typeface="Arial"/>
                <a:cs typeface="Arial"/>
              </a:rPr>
              <a:t> it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50" dirty="0">
                <a:latin typeface="Arial"/>
                <a:cs typeface="Arial"/>
              </a:rPr>
              <a:t>can </a:t>
            </a:r>
            <a:r>
              <a:rPr sz="2180" spc="-40" dirty="0">
                <a:latin typeface="Arial"/>
                <a:cs typeface="Arial"/>
              </a:rPr>
              <a:t>only</a:t>
            </a:r>
            <a:r>
              <a:rPr sz="2180" spc="-20" dirty="0">
                <a:latin typeface="Arial"/>
                <a:cs typeface="Arial"/>
              </a:rPr>
              <a:t> </a:t>
            </a:r>
            <a:r>
              <a:rPr sz="2180" spc="-59" dirty="0">
                <a:latin typeface="Arial"/>
                <a:cs typeface="Arial"/>
              </a:rPr>
              <a:t>be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placed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in a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149" dirty="0">
                <a:latin typeface="Arial"/>
                <a:cs typeface="Arial"/>
              </a:rPr>
              <a:t>CORE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69" dirty="0">
                <a:latin typeface="Arial"/>
                <a:cs typeface="Arial"/>
              </a:rPr>
              <a:t>rows.</a:t>
            </a:r>
            <a:r>
              <a:rPr sz="2180" spc="188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If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a </a:t>
            </a:r>
            <a:r>
              <a:rPr sz="2180" spc="-40" dirty="0">
                <a:latin typeface="Arial"/>
                <a:cs typeface="Arial"/>
              </a:rPr>
              <a:t>cell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20" dirty="0">
                <a:latin typeface="Arial"/>
                <a:cs typeface="Arial"/>
              </a:rPr>
              <a:t>is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of </a:t>
            </a:r>
            <a:r>
              <a:rPr sz="2180" spc="-20" dirty="0">
                <a:latin typeface="Arial"/>
                <a:cs typeface="Arial"/>
              </a:rPr>
              <a:t>type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IO, it</a:t>
            </a:r>
            <a:r>
              <a:rPr sz="2180" spc="-10" dirty="0">
                <a:latin typeface="Arial"/>
                <a:cs typeface="Arial"/>
              </a:rPr>
              <a:t> </a:t>
            </a:r>
            <a:r>
              <a:rPr sz="2180" spc="-89" dirty="0">
                <a:latin typeface="Arial"/>
                <a:cs typeface="Arial"/>
              </a:rPr>
              <a:t>can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40" dirty="0">
                <a:latin typeface="Arial"/>
                <a:cs typeface="Arial"/>
              </a:rPr>
              <a:t>only </a:t>
            </a:r>
            <a:r>
              <a:rPr sz="2180" spc="-59" dirty="0">
                <a:latin typeface="Arial"/>
                <a:cs typeface="Arial"/>
              </a:rPr>
              <a:t>be</a:t>
            </a:r>
            <a:r>
              <a:rPr sz="2180" dirty="0">
                <a:latin typeface="Arial"/>
                <a:cs typeface="Arial"/>
              </a:rPr>
              <a:t> </a:t>
            </a:r>
            <a:r>
              <a:rPr sz="2180" spc="-119" dirty="0">
                <a:latin typeface="Arial"/>
                <a:cs typeface="Arial"/>
              </a:rPr>
              <a:t>placed</a:t>
            </a:r>
            <a:r>
              <a:rPr sz="2180" dirty="0">
                <a:latin typeface="Arial"/>
                <a:cs typeface="Arial"/>
              </a:rPr>
              <a:t> in</a:t>
            </a:r>
            <a:r>
              <a:rPr sz="2180" spc="10" dirty="0">
                <a:latin typeface="Arial"/>
                <a:cs typeface="Arial"/>
              </a:rPr>
              <a:t> </a:t>
            </a:r>
            <a:r>
              <a:rPr sz="2180" dirty="0">
                <a:latin typeface="Arial"/>
                <a:cs typeface="Arial"/>
              </a:rPr>
              <a:t>IO </a:t>
            </a:r>
            <a:r>
              <a:rPr sz="2180" spc="-40" dirty="0">
                <a:latin typeface="Arial"/>
                <a:cs typeface="Arial"/>
              </a:rPr>
              <a:t>rows</a:t>
            </a:r>
            <a:endParaRPr sz="218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6859" y="4500925"/>
            <a:ext cx="5639265" cy="187350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528195" y="6606205"/>
            <a:ext cx="9131836" cy="242861"/>
            <a:chOff x="0" y="3333686"/>
            <a:chExt cx="4608195" cy="122555"/>
          </a:xfrm>
        </p:grpSpPr>
        <p:sp>
          <p:nvSpPr>
            <p:cNvPr id="12" name="object 12"/>
            <p:cNvSpPr/>
            <p:nvPr/>
          </p:nvSpPr>
          <p:spPr>
            <a:xfrm>
              <a:off x="0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54707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1515478" y="3347568"/>
            <a:ext cx="6940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Ahmed</a:t>
            </a:r>
            <a:r>
              <a:rPr lang="en-US" spc="-15"/>
              <a:t> </a:t>
            </a:r>
            <a:r>
              <a:rPr lang="en-US" spc="-20"/>
              <a:t>Abdelazeem</a:t>
            </a:r>
            <a:endParaRPr spc="-40" dirty="0"/>
          </a:p>
        </p:txBody>
      </p:sp>
      <p:sp>
        <p:nvSpPr>
          <p:cNvPr id="15" name="object 15"/>
          <p:cNvSpPr txBox="1"/>
          <p:nvPr/>
        </p:nvSpPr>
        <p:spPr>
          <a:xfrm>
            <a:off x="6282764" y="6633714"/>
            <a:ext cx="149114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338"/>
              </a:lnSpc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ASIC</a:t>
            </a:r>
            <a:r>
              <a:rPr sz="1189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Physical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endParaRPr sz="1189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6244" y="-8446"/>
            <a:ext cx="839319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sz="1189" spc="73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Floor</a:t>
            </a:r>
            <a:endParaRPr sz="1189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3910" y="-23"/>
            <a:ext cx="4566547" cy="242861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313"/>
                </a:lnTo>
                <a:lnTo>
                  <a:pt x="2303995" y="122313"/>
                </a:lnTo>
                <a:lnTo>
                  <a:pt x="2303995" y="0"/>
                </a:lnTo>
                <a:close/>
              </a:path>
            </a:pathLst>
          </a:custGeom>
          <a:solidFill>
            <a:srgbClr val="54707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/>
          <p:nvPr/>
        </p:nvSpPr>
        <p:spPr>
          <a:xfrm>
            <a:off x="6282764" y="-8445"/>
            <a:ext cx="1377892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Floor</a:t>
            </a:r>
            <a:r>
              <a:rPr sz="1189" spc="6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Macro</a:t>
            </a:r>
            <a:r>
              <a:rPr sz="1189" spc="614" dirty="0">
                <a:solidFill>
                  <a:srgbClr val="A9B7B8"/>
                </a:solidFill>
                <a:latin typeface="Arial"/>
                <a:cs typeface="Arial"/>
              </a:rPr>
              <a:t> </a:t>
            </a:r>
            <a:r>
              <a:rPr sz="1189" spc="-50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PAD</a:t>
            </a:r>
            <a:endParaRPr sz="1189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8195" y="242358"/>
            <a:ext cx="9131836" cy="694608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/>
          <p:nvPr/>
        </p:nvSpPr>
        <p:spPr>
          <a:xfrm>
            <a:off x="1717047" y="361015"/>
            <a:ext cx="2965928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2774" spc="-50" dirty="0">
                <a:solidFill>
                  <a:srgbClr val="FFFFFF"/>
                </a:solidFill>
                <a:latin typeface="Tahoma"/>
                <a:cs typeface="Tahoma"/>
              </a:rPr>
              <a:t>Core</a:t>
            </a:r>
            <a:r>
              <a:rPr sz="2774" spc="-14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59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774" spc="-13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dirty="0">
                <a:solidFill>
                  <a:srgbClr val="FFFFFF"/>
                </a:solidFill>
                <a:latin typeface="Tahoma"/>
                <a:cs typeface="Tahoma"/>
              </a:rPr>
              <a:t>IO</a:t>
            </a:r>
            <a:r>
              <a:rPr sz="2774" spc="-13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74" spc="-69" dirty="0">
                <a:solidFill>
                  <a:srgbClr val="FFFFFF"/>
                </a:solidFill>
                <a:latin typeface="Tahoma"/>
                <a:cs typeface="Tahoma"/>
              </a:rPr>
              <a:t>Region</a:t>
            </a:r>
            <a:endParaRPr sz="2774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1399" y="1706495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091088" y="2068070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091088" y="2368968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3091088" y="2669838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531399" y="3075479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531399" y="3491689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531399" y="3867785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3091088" y="4229360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3091088" y="4530256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3091088" y="4831128"/>
            <a:ext cx="111993" cy="111993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 txBox="1"/>
          <p:nvPr/>
        </p:nvSpPr>
        <p:spPr>
          <a:xfrm>
            <a:off x="2765529" y="1479114"/>
            <a:ext cx="6489304" cy="3542992"/>
          </a:xfrm>
          <a:prstGeom prst="rect">
            <a:avLst/>
          </a:prstGeom>
        </p:spPr>
        <p:txBody>
          <a:bodyPr vert="horz" wrap="square" lIns="0" tIns="71726" rIns="0" bIns="0" rtlCol="0">
            <a:spAutoFit/>
          </a:bodyPr>
          <a:lstStyle/>
          <a:p>
            <a:pPr marL="25168">
              <a:spcBef>
                <a:spcPts val="565"/>
              </a:spcBef>
            </a:pPr>
            <a:r>
              <a:rPr sz="2180" b="1" spc="-20" dirty="0">
                <a:latin typeface="Tahoma"/>
                <a:cs typeface="Tahoma"/>
              </a:rPr>
              <a:t>From:</a:t>
            </a:r>
            <a:endParaRPr sz="2180">
              <a:latin typeface="Tahoma"/>
              <a:cs typeface="Tahoma"/>
            </a:endParaRPr>
          </a:p>
          <a:p>
            <a:pPr marL="573821" marR="3215160">
              <a:spcBef>
                <a:spcPts val="347"/>
              </a:spcBef>
            </a:pPr>
            <a:r>
              <a:rPr sz="1982" dirty="0">
                <a:latin typeface="Arial"/>
                <a:cs typeface="Arial"/>
              </a:rPr>
              <a:t>A </a:t>
            </a:r>
            <a:r>
              <a:rPr sz="1982" spc="-40" dirty="0">
                <a:latin typeface="Arial"/>
                <a:cs typeface="Arial"/>
              </a:rPr>
              <a:t>gate</a:t>
            </a:r>
            <a:r>
              <a:rPr sz="1982" spc="10" dirty="0">
                <a:latin typeface="Arial"/>
                <a:cs typeface="Arial"/>
              </a:rPr>
              <a:t> </a:t>
            </a:r>
            <a:r>
              <a:rPr sz="1982" spc="-69" dirty="0">
                <a:latin typeface="Arial"/>
                <a:cs typeface="Arial"/>
              </a:rPr>
              <a:t>level</a:t>
            </a:r>
            <a:r>
              <a:rPr sz="1982" spc="10" dirty="0">
                <a:latin typeface="Arial"/>
                <a:cs typeface="Arial"/>
              </a:rPr>
              <a:t> </a:t>
            </a:r>
            <a:r>
              <a:rPr sz="1982" spc="-20" dirty="0">
                <a:latin typeface="Arial"/>
                <a:cs typeface="Arial"/>
              </a:rPr>
              <a:t>netlist </a:t>
            </a:r>
            <a:r>
              <a:rPr sz="1982" spc="-69" dirty="0">
                <a:latin typeface="Arial"/>
                <a:cs typeface="Arial"/>
              </a:rPr>
              <a:t>Relevant</a:t>
            </a:r>
            <a:r>
              <a:rPr sz="1982" spc="-20" dirty="0">
                <a:latin typeface="Arial"/>
                <a:cs typeface="Arial"/>
              </a:rPr>
              <a:t> </a:t>
            </a:r>
            <a:r>
              <a:rPr sz="1982" spc="-79" dirty="0">
                <a:latin typeface="Arial"/>
                <a:cs typeface="Arial"/>
              </a:rPr>
              <a:t>physical</a:t>
            </a:r>
            <a:r>
              <a:rPr sz="1982" dirty="0">
                <a:latin typeface="Arial"/>
                <a:cs typeface="Arial"/>
              </a:rPr>
              <a:t> </a:t>
            </a:r>
            <a:r>
              <a:rPr sz="1982" spc="-89" dirty="0">
                <a:latin typeface="Arial"/>
                <a:cs typeface="Arial"/>
              </a:rPr>
              <a:t>libraries</a:t>
            </a:r>
            <a:endParaRPr sz="1982">
              <a:latin typeface="Arial"/>
              <a:cs typeface="Arial"/>
            </a:endParaRPr>
          </a:p>
          <a:p>
            <a:pPr marL="573821">
              <a:lnSpc>
                <a:spcPts val="2358"/>
              </a:lnSpc>
            </a:pPr>
            <a:r>
              <a:rPr sz="1982" spc="-20" dirty="0">
                <a:latin typeface="Arial"/>
                <a:cs typeface="Arial"/>
              </a:rPr>
              <a:t>Default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dirty="0">
                <a:latin typeface="Arial"/>
                <a:cs typeface="Arial"/>
              </a:rPr>
              <a:t>or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109" dirty="0">
                <a:latin typeface="Arial"/>
                <a:cs typeface="Arial"/>
              </a:rPr>
              <a:t>user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79" dirty="0">
                <a:latin typeface="Arial"/>
                <a:cs typeface="Arial"/>
              </a:rPr>
              <a:t>specified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79" dirty="0">
                <a:latin typeface="Arial"/>
                <a:cs typeface="Arial"/>
              </a:rPr>
              <a:t>aspect</a:t>
            </a:r>
            <a:r>
              <a:rPr sz="1982" spc="-20" dirty="0">
                <a:latin typeface="Arial"/>
                <a:cs typeface="Arial"/>
              </a:rPr>
              <a:t> </a:t>
            </a:r>
            <a:r>
              <a:rPr sz="1982" dirty="0">
                <a:latin typeface="Arial"/>
                <a:cs typeface="Arial"/>
              </a:rPr>
              <a:t>ratio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40" dirty="0">
                <a:latin typeface="Arial"/>
                <a:cs typeface="Arial"/>
              </a:rPr>
              <a:t>and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20" dirty="0">
                <a:latin typeface="Arial"/>
                <a:cs typeface="Arial"/>
              </a:rPr>
              <a:t>utilization.</a:t>
            </a:r>
            <a:endParaRPr sz="1982">
              <a:latin typeface="Arial"/>
              <a:cs typeface="Arial"/>
            </a:endParaRPr>
          </a:p>
          <a:p>
            <a:pPr marL="25168" marR="10067">
              <a:lnSpc>
                <a:spcPct val="119200"/>
              </a:lnSpc>
              <a:spcBef>
                <a:spcPts val="198"/>
              </a:spcBef>
            </a:pPr>
            <a:r>
              <a:rPr sz="2180" b="1" spc="-109" dirty="0">
                <a:latin typeface="Tahoma"/>
                <a:cs typeface="Tahoma"/>
              </a:rPr>
              <a:t>Calculate</a:t>
            </a:r>
            <a:r>
              <a:rPr sz="2180" b="1" spc="-59" dirty="0">
                <a:latin typeface="Tahoma"/>
                <a:cs typeface="Tahoma"/>
              </a:rPr>
              <a:t> </a:t>
            </a:r>
            <a:r>
              <a:rPr sz="2180" b="1" spc="-69" dirty="0">
                <a:latin typeface="Tahoma"/>
                <a:cs typeface="Tahoma"/>
              </a:rPr>
              <a:t>the</a:t>
            </a:r>
            <a:r>
              <a:rPr sz="2180" b="1" spc="-40" dirty="0">
                <a:latin typeface="Tahoma"/>
                <a:cs typeface="Tahoma"/>
              </a:rPr>
              <a:t> </a:t>
            </a:r>
            <a:r>
              <a:rPr sz="2180" b="1" spc="-159" dirty="0">
                <a:latin typeface="Tahoma"/>
                <a:cs typeface="Tahoma"/>
              </a:rPr>
              <a:t>area</a:t>
            </a:r>
            <a:r>
              <a:rPr sz="2180" b="1" spc="-10" dirty="0">
                <a:latin typeface="Tahoma"/>
                <a:cs typeface="Tahoma"/>
              </a:rPr>
              <a:t> </a:t>
            </a:r>
            <a:r>
              <a:rPr sz="2180" b="1" spc="-20" dirty="0">
                <a:latin typeface="Tahoma"/>
                <a:cs typeface="Tahoma"/>
              </a:rPr>
              <a:t>of</a:t>
            </a:r>
            <a:r>
              <a:rPr sz="2180" b="1" spc="-30" dirty="0">
                <a:latin typeface="Tahoma"/>
                <a:cs typeface="Tahoma"/>
              </a:rPr>
              <a:t> </a:t>
            </a:r>
            <a:r>
              <a:rPr sz="2180" b="1" spc="-59" dirty="0">
                <a:latin typeface="Tahoma"/>
                <a:cs typeface="Tahoma"/>
              </a:rPr>
              <a:t>all</a:t>
            </a:r>
            <a:r>
              <a:rPr sz="2180" b="1" spc="-30" dirty="0">
                <a:latin typeface="Tahoma"/>
                <a:cs typeface="Tahoma"/>
              </a:rPr>
              <a:t> </a:t>
            </a:r>
            <a:r>
              <a:rPr sz="2180" b="1" spc="-139" dirty="0">
                <a:latin typeface="Tahoma"/>
                <a:cs typeface="Tahoma"/>
              </a:rPr>
              <a:t>macro</a:t>
            </a:r>
            <a:r>
              <a:rPr sz="2180" b="1" spc="-20" dirty="0">
                <a:latin typeface="Tahoma"/>
                <a:cs typeface="Tahoma"/>
              </a:rPr>
              <a:t> </a:t>
            </a:r>
            <a:r>
              <a:rPr sz="2180" b="1" spc="-109" dirty="0">
                <a:latin typeface="Tahoma"/>
                <a:cs typeface="Tahoma"/>
              </a:rPr>
              <a:t>cells</a:t>
            </a:r>
            <a:r>
              <a:rPr sz="2180" b="1" spc="-30" dirty="0">
                <a:latin typeface="Tahoma"/>
                <a:cs typeface="Tahoma"/>
              </a:rPr>
              <a:t> </a:t>
            </a:r>
            <a:r>
              <a:rPr sz="2180" b="1" spc="-119" dirty="0">
                <a:latin typeface="Tahoma"/>
                <a:cs typeface="Tahoma"/>
              </a:rPr>
              <a:t>and</a:t>
            </a:r>
            <a:r>
              <a:rPr sz="2180" b="1" spc="-30" dirty="0">
                <a:latin typeface="Tahoma"/>
                <a:cs typeface="Tahoma"/>
              </a:rPr>
              <a:t> </a:t>
            </a:r>
            <a:r>
              <a:rPr sz="2180" b="1" spc="-119" dirty="0">
                <a:latin typeface="Tahoma"/>
                <a:cs typeface="Tahoma"/>
              </a:rPr>
              <a:t>leaf</a:t>
            </a:r>
            <a:r>
              <a:rPr sz="2180" b="1" spc="-40" dirty="0">
                <a:latin typeface="Tahoma"/>
                <a:cs typeface="Tahoma"/>
              </a:rPr>
              <a:t> </a:t>
            </a:r>
            <a:r>
              <a:rPr sz="2180" b="1" spc="-20" dirty="0">
                <a:latin typeface="Tahoma"/>
                <a:cs typeface="Tahoma"/>
              </a:rPr>
              <a:t>cells </a:t>
            </a:r>
            <a:r>
              <a:rPr sz="2180" b="1" spc="-129" dirty="0">
                <a:latin typeface="Tahoma"/>
                <a:cs typeface="Tahoma"/>
              </a:rPr>
              <a:t>Generate</a:t>
            </a:r>
            <a:r>
              <a:rPr sz="2180" b="1" spc="-20" dirty="0">
                <a:latin typeface="Tahoma"/>
                <a:cs typeface="Tahoma"/>
              </a:rPr>
              <a:t> </a:t>
            </a:r>
            <a:r>
              <a:rPr sz="2180" b="1" spc="-139" dirty="0">
                <a:latin typeface="Tahoma"/>
                <a:cs typeface="Tahoma"/>
              </a:rPr>
              <a:t>bounding</a:t>
            </a:r>
            <a:r>
              <a:rPr sz="2180" b="1" dirty="0">
                <a:latin typeface="Tahoma"/>
                <a:cs typeface="Tahoma"/>
              </a:rPr>
              <a:t> </a:t>
            </a:r>
            <a:r>
              <a:rPr sz="2180" b="1" spc="-168" dirty="0">
                <a:latin typeface="Tahoma"/>
                <a:cs typeface="Tahoma"/>
              </a:rPr>
              <a:t>shapes</a:t>
            </a:r>
            <a:r>
              <a:rPr sz="2180" b="1" dirty="0">
                <a:latin typeface="Tahoma"/>
                <a:cs typeface="Tahoma"/>
              </a:rPr>
              <a:t> </a:t>
            </a:r>
            <a:r>
              <a:rPr sz="2180" b="1" spc="-119" dirty="0">
                <a:latin typeface="Tahoma"/>
                <a:cs typeface="Tahoma"/>
              </a:rPr>
              <a:t>and</a:t>
            </a:r>
            <a:r>
              <a:rPr sz="2180" b="1" dirty="0">
                <a:latin typeface="Tahoma"/>
                <a:cs typeface="Tahoma"/>
              </a:rPr>
              <a:t> </a:t>
            </a:r>
            <a:r>
              <a:rPr sz="2180" b="1" spc="-79" dirty="0">
                <a:latin typeface="Tahoma"/>
                <a:cs typeface="Tahoma"/>
              </a:rPr>
              <a:t>cell</a:t>
            </a:r>
            <a:r>
              <a:rPr sz="2180" b="1" dirty="0">
                <a:latin typeface="Tahoma"/>
                <a:cs typeface="Tahoma"/>
              </a:rPr>
              <a:t> </a:t>
            </a:r>
            <a:r>
              <a:rPr sz="2180" b="1" spc="-139" dirty="0">
                <a:latin typeface="Tahoma"/>
                <a:cs typeface="Tahoma"/>
              </a:rPr>
              <a:t>placement</a:t>
            </a:r>
            <a:r>
              <a:rPr sz="2180" b="1" spc="-10" dirty="0">
                <a:latin typeface="Tahoma"/>
                <a:cs typeface="Tahoma"/>
              </a:rPr>
              <a:t> </a:t>
            </a:r>
            <a:r>
              <a:rPr sz="2180" b="1" spc="-178" dirty="0">
                <a:latin typeface="Tahoma"/>
                <a:cs typeface="Tahoma"/>
              </a:rPr>
              <a:t>rows </a:t>
            </a:r>
            <a:r>
              <a:rPr sz="2180" b="1" spc="-69" dirty="0">
                <a:latin typeface="Tahoma"/>
                <a:cs typeface="Tahoma"/>
              </a:rPr>
              <a:t>Place </a:t>
            </a:r>
            <a:r>
              <a:rPr sz="2180" b="1" spc="-40" dirty="0">
                <a:latin typeface="Tahoma"/>
                <a:cs typeface="Tahoma"/>
              </a:rPr>
              <a:t>IO</a:t>
            </a:r>
            <a:r>
              <a:rPr sz="2180" b="1" spc="-69" dirty="0">
                <a:latin typeface="Tahoma"/>
                <a:cs typeface="Tahoma"/>
              </a:rPr>
              <a:t> </a:t>
            </a:r>
            <a:r>
              <a:rPr sz="2180" b="1" spc="-40" dirty="0">
                <a:latin typeface="Tahoma"/>
                <a:cs typeface="Tahoma"/>
              </a:rPr>
              <a:t>PADs</a:t>
            </a:r>
            <a:endParaRPr sz="2180">
              <a:latin typeface="Tahoma"/>
              <a:cs typeface="Tahoma"/>
            </a:endParaRPr>
          </a:p>
          <a:p>
            <a:pPr marL="573821">
              <a:lnSpc>
                <a:spcPts val="2378"/>
              </a:lnSpc>
              <a:spcBef>
                <a:spcPts val="347"/>
              </a:spcBef>
            </a:pPr>
            <a:r>
              <a:rPr sz="1982" spc="-59" dirty="0">
                <a:latin typeface="Arial"/>
                <a:cs typeface="Arial"/>
              </a:rPr>
              <a:t>Signal</a:t>
            </a:r>
            <a:r>
              <a:rPr sz="1982" spc="-40" dirty="0">
                <a:latin typeface="Arial"/>
                <a:cs typeface="Arial"/>
              </a:rPr>
              <a:t> pads</a:t>
            </a:r>
            <a:endParaRPr sz="1982">
              <a:latin typeface="Arial"/>
              <a:cs typeface="Arial"/>
            </a:endParaRPr>
          </a:p>
          <a:p>
            <a:pPr marL="573821" marR="3168600">
              <a:lnSpc>
                <a:spcPts val="2378"/>
              </a:lnSpc>
              <a:spcBef>
                <a:spcPts val="79"/>
              </a:spcBef>
            </a:pPr>
            <a:r>
              <a:rPr sz="1982" spc="-20" dirty="0">
                <a:latin typeface="Arial"/>
                <a:cs typeface="Arial"/>
              </a:rPr>
              <a:t>Filler</a:t>
            </a:r>
            <a:r>
              <a:rPr sz="1982" spc="-59" dirty="0">
                <a:latin typeface="Arial"/>
                <a:cs typeface="Arial"/>
              </a:rPr>
              <a:t> </a:t>
            </a:r>
            <a:r>
              <a:rPr sz="1982" spc="-40" dirty="0">
                <a:latin typeface="Arial"/>
                <a:cs typeface="Arial"/>
              </a:rPr>
              <a:t>and</a:t>
            </a:r>
            <a:r>
              <a:rPr sz="1982" spc="-50" dirty="0">
                <a:latin typeface="Arial"/>
                <a:cs typeface="Arial"/>
              </a:rPr>
              <a:t> </a:t>
            </a:r>
            <a:r>
              <a:rPr sz="1982" spc="-69" dirty="0">
                <a:latin typeface="Arial"/>
                <a:cs typeface="Arial"/>
              </a:rPr>
              <a:t>corner</a:t>
            </a:r>
            <a:r>
              <a:rPr sz="1982" spc="-59" dirty="0">
                <a:latin typeface="Arial"/>
                <a:cs typeface="Arial"/>
              </a:rPr>
              <a:t> </a:t>
            </a:r>
            <a:r>
              <a:rPr sz="1982" spc="-40" dirty="0">
                <a:latin typeface="Arial"/>
                <a:cs typeface="Arial"/>
              </a:rPr>
              <a:t>pads </a:t>
            </a:r>
            <a:r>
              <a:rPr sz="1982" spc="-20" dirty="0">
                <a:latin typeface="Arial"/>
                <a:cs typeface="Arial"/>
              </a:rPr>
              <a:t>Bump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dirty="0">
                <a:latin typeface="Arial"/>
                <a:cs typeface="Arial"/>
              </a:rPr>
              <a:t>or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spc="-40" dirty="0">
                <a:latin typeface="Arial"/>
                <a:cs typeface="Arial"/>
              </a:rPr>
              <a:t>flip-</a:t>
            </a:r>
            <a:r>
              <a:rPr sz="1982" dirty="0">
                <a:latin typeface="Arial"/>
                <a:cs typeface="Arial"/>
              </a:rPr>
              <a:t>chip</a:t>
            </a:r>
            <a:r>
              <a:rPr sz="1982" spc="-30" dirty="0">
                <a:latin typeface="Arial"/>
                <a:cs typeface="Arial"/>
              </a:rPr>
              <a:t> </a:t>
            </a:r>
            <a:r>
              <a:rPr sz="1982" dirty="0">
                <a:latin typeface="Arial"/>
                <a:cs typeface="Arial"/>
              </a:rPr>
              <a:t>IO</a:t>
            </a:r>
            <a:r>
              <a:rPr sz="1982" spc="-20" dirty="0">
                <a:latin typeface="Arial"/>
                <a:cs typeface="Arial"/>
              </a:rPr>
              <a:t> </a:t>
            </a:r>
            <a:r>
              <a:rPr sz="1982" spc="-119" dirty="0">
                <a:latin typeface="Arial"/>
                <a:cs typeface="Arial"/>
              </a:rPr>
              <a:t>pads</a:t>
            </a:r>
            <a:endParaRPr sz="1982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18303" y="5414623"/>
            <a:ext cx="4272094" cy="0"/>
          </a:xfrm>
          <a:custGeom>
            <a:avLst/>
            <a:gdLst/>
            <a:ahLst/>
            <a:cxnLst/>
            <a:rect l="l" t="t" r="r" b="b"/>
            <a:pathLst>
              <a:path w="2155825">
                <a:moveTo>
                  <a:pt x="0" y="0"/>
                </a:moveTo>
                <a:lnTo>
                  <a:pt x="21555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 txBox="1"/>
          <p:nvPr/>
        </p:nvSpPr>
        <p:spPr>
          <a:xfrm>
            <a:off x="5595529" y="5371864"/>
            <a:ext cx="131749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b="1" spc="-79" dirty="0">
                <a:latin typeface="Tahoma"/>
                <a:cs typeface="Tahoma"/>
              </a:rPr>
              <a:t>Core</a:t>
            </a:r>
            <a:r>
              <a:rPr sz="2180" b="1" spc="-59" dirty="0">
                <a:latin typeface="Tahoma"/>
                <a:cs typeface="Tahoma"/>
              </a:rPr>
              <a:t> </a:t>
            </a:r>
            <a:r>
              <a:rPr sz="2180" b="1" spc="-79" dirty="0">
                <a:latin typeface="Tahoma"/>
                <a:cs typeface="Tahoma"/>
              </a:rPr>
              <a:t>Area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4376" y="4997807"/>
            <a:ext cx="71285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75503">
              <a:spcBef>
                <a:spcPts val="178"/>
              </a:spcBef>
            </a:pPr>
            <a:r>
              <a:rPr sz="3270" b="1" spc="-162" baseline="-37878" dirty="0">
                <a:latin typeface="Tahoma"/>
                <a:cs typeface="Tahoma"/>
              </a:rPr>
              <a:t>Utilization</a:t>
            </a:r>
            <a:r>
              <a:rPr sz="3270" b="1" spc="-87" baseline="-37878" dirty="0">
                <a:latin typeface="Tahoma"/>
                <a:cs typeface="Tahoma"/>
              </a:rPr>
              <a:t> </a:t>
            </a:r>
            <a:r>
              <a:rPr sz="3270" baseline="-37878" dirty="0">
                <a:latin typeface="Verdana Pro Light"/>
                <a:cs typeface="Verdana Pro Light"/>
              </a:rPr>
              <a:t>=</a:t>
            </a:r>
            <a:r>
              <a:rPr sz="3270" spc="-281" baseline="-37878" dirty="0">
                <a:latin typeface="Verdana Pro Light"/>
                <a:cs typeface="Verdana Pro Light"/>
              </a:rPr>
              <a:t> </a:t>
            </a:r>
            <a:r>
              <a:rPr sz="2180" spc="-50" dirty="0">
                <a:latin typeface="Verdana Pro Light"/>
                <a:cs typeface="Verdana Pro Light"/>
              </a:rPr>
              <a:t>(</a:t>
            </a:r>
            <a:r>
              <a:rPr sz="2180" b="1" spc="-50" dirty="0">
                <a:latin typeface="Tahoma"/>
                <a:cs typeface="Tahoma"/>
              </a:rPr>
              <a:t>Total</a:t>
            </a:r>
            <a:r>
              <a:rPr sz="2180" b="1" spc="30" dirty="0">
                <a:latin typeface="Tahoma"/>
                <a:cs typeface="Tahoma"/>
              </a:rPr>
              <a:t> </a:t>
            </a:r>
            <a:r>
              <a:rPr sz="2180" b="1" spc="-20" dirty="0">
                <a:latin typeface="Tahoma"/>
                <a:cs typeface="Tahoma"/>
              </a:rPr>
              <a:t>Std</a:t>
            </a:r>
            <a:r>
              <a:rPr sz="2180" b="1" spc="20" dirty="0">
                <a:latin typeface="Tahoma"/>
                <a:cs typeface="Tahoma"/>
              </a:rPr>
              <a:t> </a:t>
            </a:r>
            <a:r>
              <a:rPr sz="2180" b="1" spc="-59" dirty="0">
                <a:latin typeface="Tahoma"/>
                <a:cs typeface="Tahoma"/>
              </a:rPr>
              <a:t>Cell+Macro</a:t>
            </a:r>
            <a:r>
              <a:rPr sz="2180" b="1" spc="20" dirty="0">
                <a:latin typeface="Tahoma"/>
                <a:cs typeface="Tahoma"/>
              </a:rPr>
              <a:t> </a:t>
            </a:r>
            <a:r>
              <a:rPr sz="2180" b="1" spc="-40" dirty="0">
                <a:latin typeface="Tahoma"/>
                <a:cs typeface="Tahoma"/>
              </a:rPr>
              <a:t>Cell</a:t>
            </a:r>
            <a:r>
              <a:rPr sz="2180" b="1" spc="30" dirty="0">
                <a:latin typeface="Tahoma"/>
                <a:cs typeface="Tahoma"/>
              </a:rPr>
              <a:t> </a:t>
            </a:r>
            <a:r>
              <a:rPr sz="2180" b="1" spc="-99" dirty="0">
                <a:latin typeface="Tahoma"/>
                <a:cs typeface="Tahoma"/>
              </a:rPr>
              <a:t>Area</a:t>
            </a:r>
            <a:r>
              <a:rPr sz="2180" spc="-99" dirty="0">
                <a:latin typeface="Verdana Pro Light"/>
                <a:cs typeface="Verdana Pro Light"/>
              </a:rPr>
              <a:t>)</a:t>
            </a:r>
            <a:r>
              <a:rPr sz="2180" spc="-545" dirty="0">
                <a:latin typeface="Verdana Pro Light"/>
                <a:cs typeface="Verdana Pro Light"/>
              </a:rPr>
              <a:t> </a:t>
            </a:r>
            <a:r>
              <a:rPr sz="3270" b="1" baseline="-37878" dirty="0">
                <a:latin typeface="Tahoma"/>
                <a:cs typeface="Tahoma"/>
              </a:rPr>
              <a:t>*</a:t>
            </a:r>
            <a:r>
              <a:rPr sz="3270" b="1" spc="30" baseline="-37878" dirty="0">
                <a:latin typeface="Tahoma"/>
                <a:cs typeface="Tahoma"/>
              </a:rPr>
              <a:t> </a:t>
            </a:r>
            <a:r>
              <a:rPr sz="3270" b="1" spc="-119" baseline="-37878" dirty="0">
                <a:latin typeface="Tahoma"/>
                <a:cs typeface="Tahoma"/>
              </a:rPr>
              <a:t>100%</a:t>
            </a:r>
            <a:endParaRPr sz="3270" baseline="-37878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70276" y="5183539"/>
            <a:ext cx="401413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Arial"/>
                <a:cs typeface="Arial"/>
              </a:rPr>
              <a:t>(1)</a:t>
            </a:r>
            <a:endParaRPr sz="218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28195" y="6606205"/>
            <a:ext cx="9131836" cy="242861"/>
            <a:chOff x="0" y="3333686"/>
            <a:chExt cx="4608195" cy="122555"/>
          </a:xfrm>
        </p:grpSpPr>
        <p:sp>
          <p:nvSpPr>
            <p:cNvPr id="23" name="object 23"/>
            <p:cNvSpPr/>
            <p:nvPr/>
          </p:nvSpPr>
          <p:spPr>
            <a:xfrm>
              <a:off x="0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24" name="object 24"/>
            <p:cNvSpPr/>
            <p:nvPr/>
          </p:nvSpPr>
          <p:spPr>
            <a:xfrm>
              <a:off x="2303995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54707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1515478" y="3347568"/>
            <a:ext cx="6940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Ahmed</a:t>
            </a:r>
            <a:r>
              <a:rPr lang="en-US" spc="-15"/>
              <a:t> </a:t>
            </a:r>
            <a:r>
              <a:rPr lang="en-US" spc="-20"/>
              <a:t>Abdelazeem</a:t>
            </a:r>
            <a:endParaRPr spc="-40" dirty="0"/>
          </a:p>
        </p:txBody>
      </p:sp>
      <p:sp>
        <p:nvSpPr>
          <p:cNvPr id="26" name="object 26"/>
          <p:cNvSpPr txBox="1"/>
          <p:nvPr/>
        </p:nvSpPr>
        <p:spPr>
          <a:xfrm>
            <a:off x="6282764" y="6633714"/>
            <a:ext cx="149114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338"/>
              </a:lnSpc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ASIC</a:t>
            </a:r>
            <a:r>
              <a:rPr sz="1189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Physical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endParaRPr sz="1189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6243" y="-8446"/>
            <a:ext cx="2594715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  <a:tabLst>
                <a:tab pos="1240762" algn="l"/>
              </a:tabLst>
            </a:pPr>
            <a:r>
              <a:rPr sz="1189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Intro</a:t>
            </a:r>
            <a:r>
              <a:rPr sz="1189" spc="73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Floor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Floor</a:t>
            </a:r>
            <a:r>
              <a:rPr sz="1189" spc="6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Macro</a:t>
            </a:r>
            <a:r>
              <a:rPr sz="1189" spc="614" dirty="0">
                <a:solidFill>
                  <a:srgbClr val="A9B7B8"/>
                </a:solidFill>
                <a:latin typeface="Arial"/>
                <a:cs typeface="Arial"/>
              </a:rPr>
              <a:t> </a:t>
            </a:r>
            <a:r>
              <a:rPr sz="1189" spc="-50" dirty="0">
                <a:solidFill>
                  <a:srgbClr val="A9B7B8"/>
                </a:solidFill>
                <a:latin typeface="Arial"/>
                <a:cs typeface="Arial"/>
                <a:hlinkClick r:id="" action="ppaction://noaction"/>
              </a:rPr>
              <a:t>PAD</a:t>
            </a:r>
            <a:endParaRPr sz="1189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8195" y="242358"/>
            <a:ext cx="9131836" cy="694608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89215" y="1681245"/>
            <a:ext cx="20838253" cy="711415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pc="-20" dirty="0"/>
              <a:t>Aspect</a:t>
            </a:r>
            <a:r>
              <a:rPr spc="-109" dirty="0"/>
              <a:t> </a:t>
            </a:r>
            <a:r>
              <a:rPr dirty="0"/>
              <a:t>Ratio:</a:t>
            </a:r>
            <a:r>
              <a:rPr spc="159" dirty="0"/>
              <a:t> A</a:t>
            </a:r>
            <a:r>
              <a:rPr spc="-99" dirty="0"/>
              <a:t> </a:t>
            </a:r>
            <a:r>
              <a:rPr spc="-20" dirty="0"/>
              <a:t>Factor</a:t>
            </a:r>
            <a:r>
              <a:rPr spc="-99" dirty="0"/>
              <a:t> </a:t>
            </a:r>
            <a:r>
              <a:rPr dirty="0"/>
              <a:t>in</a:t>
            </a:r>
            <a:r>
              <a:rPr spc="-109" dirty="0"/>
              <a:t> </a:t>
            </a:r>
            <a:r>
              <a:rPr spc="-69" dirty="0"/>
              <a:t>Determining</a:t>
            </a:r>
            <a:r>
              <a:rPr spc="-99" dirty="0"/>
              <a:t> </a:t>
            </a:r>
            <a:r>
              <a:rPr spc="-50" dirty="0"/>
              <a:t>Core</a:t>
            </a:r>
            <a:r>
              <a:rPr spc="-99" dirty="0"/>
              <a:t> </a:t>
            </a:r>
            <a:r>
              <a:rPr spc="-40" dirty="0"/>
              <a:t>Size</a:t>
            </a:r>
          </a:p>
        </p:txBody>
      </p:sp>
      <p:sp>
        <p:nvSpPr>
          <p:cNvPr id="5" name="object 5"/>
          <p:cNvSpPr/>
          <p:nvPr/>
        </p:nvSpPr>
        <p:spPr>
          <a:xfrm>
            <a:off x="2531399" y="1428099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3189215" y="3617753"/>
            <a:ext cx="20838253" cy="1572835"/>
          </a:xfrm>
          <a:prstGeom prst="rect">
            <a:avLst/>
          </a:prstGeom>
        </p:spPr>
        <p:txBody>
          <a:bodyPr vert="horz" wrap="square" lIns="0" tIns="97949" rIns="0" bIns="0" rtlCol="0">
            <a:spAutoFit/>
          </a:bodyPr>
          <a:lstStyle/>
          <a:p>
            <a:pPr marL="25168" marR="10067">
              <a:lnSpc>
                <a:spcPct val="102699"/>
              </a:lnSpc>
              <a:spcBef>
                <a:spcPts val="109"/>
              </a:spcBef>
            </a:pPr>
            <a:r>
              <a:rPr b="1" spc="-59" dirty="0">
                <a:latin typeface="Tahoma"/>
                <a:cs typeface="Tahoma"/>
              </a:rPr>
              <a:t>Aspect</a:t>
            </a:r>
            <a:r>
              <a:rPr b="1" spc="-50" dirty="0">
                <a:latin typeface="Tahoma"/>
                <a:cs typeface="Tahoma"/>
              </a:rPr>
              <a:t> </a:t>
            </a:r>
            <a:r>
              <a:rPr b="1" spc="-129" dirty="0">
                <a:latin typeface="Tahoma"/>
                <a:cs typeface="Tahoma"/>
              </a:rPr>
              <a:t>ratio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spc="-40" dirty="0"/>
              <a:t>is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ratio</a:t>
            </a:r>
            <a:r>
              <a:rPr spc="-10" dirty="0"/>
              <a:t> </a:t>
            </a:r>
            <a:r>
              <a:rPr spc="-139" dirty="0"/>
              <a:t>between</a:t>
            </a:r>
            <a:r>
              <a:rPr spc="-10" dirty="0"/>
              <a:t> </a:t>
            </a:r>
            <a:r>
              <a:rPr spc="-40" dirty="0"/>
              <a:t>vertical</a:t>
            </a:r>
            <a:r>
              <a:rPr spc="-20" dirty="0"/>
              <a:t> routing</a:t>
            </a:r>
            <a:r>
              <a:rPr spc="-10" dirty="0"/>
              <a:t> </a:t>
            </a:r>
            <a:r>
              <a:rPr spc="-168" dirty="0"/>
              <a:t>resources</a:t>
            </a:r>
            <a:r>
              <a:rPr spc="20" dirty="0"/>
              <a:t> </a:t>
            </a:r>
            <a:r>
              <a:rPr spc="-50" dirty="0"/>
              <a:t>to </a:t>
            </a:r>
            <a:r>
              <a:rPr spc="-59" dirty="0"/>
              <a:t>horizontal</a:t>
            </a:r>
            <a:r>
              <a:rPr spc="10" dirty="0"/>
              <a:t> </a:t>
            </a:r>
            <a:r>
              <a:rPr spc="-20" dirty="0"/>
              <a:t>routing</a:t>
            </a:r>
            <a:r>
              <a:rPr spc="10" dirty="0"/>
              <a:t> </a:t>
            </a:r>
            <a:r>
              <a:rPr spc="-20" dirty="0"/>
              <a:t>resources.</a:t>
            </a:r>
          </a:p>
          <a:p>
            <a:pPr marL="25168" marR="461825">
              <a:lnSpc>
                <a:spcPct val="102600"/>
              </a:lnSpc>
              <a:spcBef>
                <a:spcPts val="595"/>
              </a:spcBef>
            </a:pPr>
            <a:r>
              <a:rPr dirty="0"/>
              <a:t>If</a:t>
            </a:r>
            <a:r>
              <a:rPr spc="-20" dirty="0"/>
              <a:t> </a:t>
            </a:r>
            <a:r>
              <a:rPr spc="-89" dirty="0"/>
              <a:t>you</a:t>
            </a:r>
            <a:r>
              <a:rPr spc="-20" dirty="0"/>
              <a:t> </a:t>
            </a:r>
            <a:r>
              <a:rPr spc="-79" dirty="0"/>
              <a:t>specify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ratio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1.00,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40" dirty="0"/>
              <a:t>height</a:t>
            </a:r>
            <a:r>
              <a:rPr spc="-20" dirty="0"/>
              <a:t> </a:t>
            </a:r>
            <a:r>
              <a:rPr spc="-89" dirty="0"/>
              <a:t>and</a:t>
            </a:r>
            <a:r>
              <a:rPr spc="-20" dirty="0"/>
              <a:t> </a:t>
            </a:r>
            <a:r>
              <a:rPr dirty="0"/>
              <a:t>width</a:t>
            </a:r>
            <a:r>
              <a:rPr spc="-20" dirty="0"/>
              <a:t> </a:t>
            </a:r>
            <a:r>
              <a:rPr spc="-119" dirty="0"/>
              <a:t>are</a:t>
            </a:r>
            <a:r>
              <a:rPr spc="-20" dirty="0"/>
              <a:t> </a:t>
            </a:r>
            <a:r>
              <a:rPr spc="-50" dirty="0"/>
              <a:t>the </a:t>
            </a:r>
            <a:r>
              <a:rPr spc="-198" dirty="0"/>
              <a:t>same</a:t>
            </a:r>
            <a:r>
              <a:rPr spc="50" dirty="0"/>
              <a:t> </a:t>
            </a:r>
            <a:r>
              <a:rPr spc="-89" dirty="0"/>
              <a:t>and</a:t>
            </a:r>
            <a:r>
              <a:rPr spc="-59" dirty="0"/>
              <a:t> </a:t>
            </a:r>
            <a:r>
              <a:rPr spc="-79" dirty="0"/>
              <a:t>therefore</a:t>
            </a:r>
            <a:r>
              <a:rPr spc="-59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19" dirty="0"/>
              <a:t>core</a:t>
            </a:r>
            <a:r>
              <a:rPr spc="-30" dirty="0"/>
              <a:t> </a:t>
            </a:r>
            <a:r>
              <a:rPr spc="-20" dirty="0"/>
              <a:t>is </a:t>
            </a:r>
            <a:r>
              <a:rPr dirty="0"/>
              <a:t>a</a:t>
            </a:r>
            <a:r>
              <a:rPr spc="-20" dirty="0"/>
              <a:t> square.</a:t>
            </a:r>
          </a:p>
          <a:p>
            <a:pPr marL="25168" marR="666941">
              <a:lnSpc>
                <a:spcPct val="102600"/>
              </a:lnSpc>
              <a:spcBef>
                <a:spcPts val="595"/>
              </a:spcBef>
            </a:pPr>
            <a:r>
              <a:rPr dirty="0"/>
              <a:t>If</a:t>
            </a:r>
            <a:r>
              <a:rPr spc="-40" dirty="0"/>
              <a:t> </a:t>
            </a:r>
            <a:r>
              <a:rPr spc="-89" dirty="0"/>
              <a:t>you</a:t>
            </a:r>
            <a:r>
              <a:rPr spc="-40" dirty="0"/>
              <a:t> </a:t>
            </a:r>
            <a:r>
              <a:rPr spc="-79" dirty="0"/>
              <a:t>specify</a:t>
            </a:r>
            <a:r>
              <a:rPr spc="-3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ratio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0" dirty="0"/>
              <a:t>2.00,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height</a:t>
            </a:r>
            <a:r>
              <a:rPr spc="-30" dirty="0"/>
              <a:t> </a:t>
            </a:r>
            <a:r>
              <a:rPr spc="-20" dirty="0"/>
              <a:t>is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50" dirty="0"/>
              <a:t>times</a:t>
            </a:r>
            <a:r>
              <a:rPr spc="-30" dirty="0"/>
              <a:t> </a:t>
            </a:r>
            <a:r>
              <a:rPr spc="-50" dirty="0"/>
              <a:t>the </a:t>
            </a:r>
            <a:r>
              <a:rPr spc="-20" dirty="0"/>
              <a:t>width.</a:t>
            </a:r>
          </a:p>
        </p:txBody>
      </p:sp>
      <p:sp>
        <p:nvSpPr>
          <p:cNvPr id="7" name="object 7"/>
          <p:cNvSpPr/>
          <p:nvPr/>
        </p:nvSpPr>
        <p:spPr>
          <a:xfrm>
            <a:off x="2531399" y="2185323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2531399" y="2942522"/>
            <a:ext cx="122058" cy="122058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6A8C8E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7294" y="3656202"/>
            <a:ext cx="5393096" cy="243042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528195" y="6606205"/>
            <a:ext cx="9131836" cy="242861"/>
            <a:chOff x="0" y="3333686"/>
            <a:chExt cx="4608195" cy="122555"/>
          </a:xfrm>
        </p:grpSpPr>
        <p:sp>
          <p:nvSpPr>
            <p:cNvPr id="11" name="object 11"/>
            <p:cNvSpPr/>
            <p:nvPr/>
          </p:nvSpPr>
          <p:spPr>
            <a:xfrm>
              <a:off x="0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33686"/>
              <a:ext cx="2304415" cy="122555"/>
            </a:xfrm>
            <a:custGeom>
              <a:avLst/>
              <a:gdLst/>
              <a:ahLst/>
              <a:cxnLst/>
              <a:rect l="l" t="t" r="r" b="b"/>
              <a:pathLst>
                <a:path w="2304415" h="122554">
                  <a:moveTo>
                    <a:pt x="2303995" y="0"/>
                  </a:moveTo>
                  <a:lnTo>
                    <a:pt x="0" y="0"/>
                  </a:lnTo>
                  <a:lnTo>
                    <a:pt x="0" y="122313"/>
                  </a:lnTo>
                  <a:lnTo>
                    <a:pt x="2303995" y="122313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54707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515478" y="3347568"/>
            <a:ext cx="69405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168">
              <a:lnSpc>
                <a:spcPts val="1338"/>
              </a:lnSpc>
            </a:pPr>
            <a:r>
              <a:rPr lang="en-US"/>
              <a:t>Ahmed</a:t>
            </a:r>
            <a:r>
              <a:rPr lang="en-US" spc="-15"/>
              <a:t> </a:t>
            </a:r>
            <a:r>
              <a:rPr lang="en-US" spc="-20"/>
              <a:t>Abdelazeem</a:t>
            </a:r>
            <a:endParaRPr spc="-40" dirty="0"/>
          </a:p>
        </p:txBody>
      </p:sp>
      <p:sp>
        <p:nvSpPr>
          <p:cNvPr id="14" name="object 14"/>
          <p:cNvSpPr txBox="1"/>
          <p:nvPr/>
        </p:nvSpPr>
        <p:spPr>
          <a:xfrm>
            <a:off x="6282764" y="6633714"/>
            <a:ext cx="1491143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338"/>
              </a:lnSpc>
            </a:pP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ASIC</a:t>
            </a:r>
            <a:r>
              <a:rPr sz="1189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Physical</a:t>
            </a:r>
            <a:r>
              <a:rPr sz="1189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189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endParaRPr sz="1189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6284B-354A-E65A-A29C-C6C3A685E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62" y="1613291"/>
            <a:ext cx="7007876" cy="363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3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7">
            <a:extLst>
              <a:ext uri="{FF2B5EF4-FFF2-40B4-BE49-F238E27FC236}">
                <a16:creationId xmlns:a16="http://schemas.microsoft.com/office/drawing/2014/main" id="{CBD54CA7-5D92-3D5B-80B8-B49F5D9298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891" y="2255139"/>
            <a:ext cx="3863340" cy="2347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14C2FD-7DFC-F4F3-6AF7-9851E264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527" y="2688771"/>
            <a:ext cx="7033269" cy="25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7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6">
            <a:extLst>
              <a:ext uri="{FF2B5EF4-FFF2-40B4-BE49-F238E27FC236}">
                <a16:creationId xmlns:a16="http://schemas.microsoft.com/office/drawing/2014/main" id="{7FC09F1A-2F93-A622-E373-CA76E71CC4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476" y="690372"/>
            <a:ext cx="6790943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3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1EFC88F4-D024-B043-87EC-4DBB3A26C2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190" y="3713918"/>
            <a:ext cx="1370696" cy="2072839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D56CCD1A-221F-D4C4-B6A8-48C8894EAC6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92342" y="3503706"/>
            <a:ext cx="1737359" cy="2493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735C24-5659-2D59-6052-F90B59D51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151" y="359229"/>
            <a:ext cx="6108213" cy="452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3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4">
            <a:extLst>
              <a:ext uri="{FF2B5EF4-FFF2-40B4-BE49-F238E27FC236}">
                <a16:creationId xmlns:a16="http://schemas.microsoft.com/office/drawing/2014/main" id="{DDF5C7CF-4CC1-81E1-933B-88A577A3D43B}"/>
              </a:ext>
            </a:extLst>
          </p:cNvPr>
          <p:cNvGrpSpPr/>
          <p:nvPr/>
        </p:nvGrpSpPr>
        <p:grpSpPr>
          <a:xfrm>
            <a:off x="4371213" y="2761869"/>
            <a:ext cx="3085465" cy="2501900"/>
            <a:chOff x="4371213" y="2761869"/>
            <a:chExt cx="3085465" cy="2501900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ED296E21-1940-D1E9-6E97-89A023722708}"/>
                </a:ext>
              </a:extLst>
            </p:cNvPr>
            <p:cNvSpPr/>
            <p:nvPr/>
          </p:nvSpPr>
          <p:spPr>
            <a:xfrm>
              <a:off x="4380738" y="2771394"/>
              <a:ext cx="3066415" cy="2482850"/>
            </a:xfrm>
            <a:custGeom>
              <a:avLst/>
              <a:gdLst/>
              <a:ahLst/>
              <a:cxnLst/>
              <a:rect l="l" t="t" r="r" b="b"/>
              <a:pathLst>
                <a:path w="3066415" h="2482850">
                  <a:moveTo>
                    <a:pt x="3066288" y="0"/>
                  </a:moveTo>
                  <a:lnTo>
                    <a:pt x="0" y="0"/>
                  </a:lnTo>
                  <a:lnTo>
                    <a:pt x="0" y="2482595"/>
                  </a:lnTo>
                  <a:lnTo>
                    <a:pt x="3066288" y="2482595"/>
                  </a:lnTo>
                  <a:lnTo>
                    <a:pt x="3066288" y="0"/>
                  </a:lnTo>
                  <a:close/>
                </a:path>
              </a:pathLst>
            </a:custGeom>
            <a:solidFill>
              <a:srgbClr val="C6C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66393C14-10A0-D183-389D-F877CC82B7CE}"/>
                </a:ext>
              </a:extLst>
            </p:cNvPr>
            <p:cNvSpPr/>
            <p:nvPr/>
          </p:nvSpPr>
          <p:spPr>
            <a:xfrm>
              <a:off x="4380738" y="2771394"/>
              <a:ext cx="3066415" cy="2482850"/>
            </a:xfrm>
            <a:custGeom>
              <a:avLst/>
              <a:gdLst/>
              <a:ahLst/>
              <a:cxnLst/>
              <a:rect l="l" t="t" r="r" b="b"/>
              <a:pathLst>
                <a:path w="3066415" h="2482850">
                  <a:moveTo>
                    <a:pt x="0" y="2482595"/>
                  </a:moveTo>
                  <a:lnTo>
                    <a:pt x="3066288" y="2482595"/>
                  </a:lnTo>
                  <a:lnTo>
                    <a:pt x="3066288" y="0"/>
                  </a:lnTo>
                  <a:lnTo>
                    <a:pt x="0" y="0"/>
                  </a:lnTo>
                  <a:lnTo>
                    <a:pt x="0" y="248259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6E47015B-E629-5D99-9F36-FF1BAAF74341}"/>
                </a:ext>
              </a:extLst>
            </p:cNvPr>
            <p:cNvSpPr/>
            <p:nvPr/>
          </p:nvSpPr>
          <p:spPr>
            <a:xfrm>
              <a:off x="4709160" y="3060192"/>
              <a:ext cx="2409825" cy="1910080"/>
            </a:xfrm>
            <a:custGeom>
              <a:avLst/>
              <a:gdLst/>
              <a:ahLst/>
              <a:cxnLst/>
              <a:rect l="l" t="t" r="r" b="b"/>
              <a:pathLst>
                <a:path w="2409825" h="1910079">
                  <a:moveTo>
                    <a:pt x="0" y="1909572"/>
                  </a:moveTo>
                  <a:lnTo>
                    <a:pt x="2409443" y="1909572"/>
                  </a:lnTo>
                  <a:lnTo>
                    <a:pt x="2409443" y="0"/>
                  </a:lnTo>
                  <a:lnTo>
                    <a:pt x="0" y="0"/>
                  </a:lnTo>
                  <a:lnTo>
                    <a:pt x="0" y="1909572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B9332550-35DC-3F43-80C8-BF4FE607BA2F}"/>
              </a:ext>
            </a:extLst>
          </p:cNvPr>
          <p:cNvSpPr txBox="1"/>
          <p:nvPr/>
        </p:nvSpPr>
        <p:spPr>
          <a:xfrm>
            <a:off x="5722111" y="3863416"/>
            <a:ext cx="520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Core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6FEDF0F6-8866-A37D-BCC4-CF94A1B98E8D}"/>
              </a:ext>
            </a:extLst>
          </p:cNvPr>
          <p:cNvGrpSpPr/>
          <p:nvPr/>
        </p:nvGrpSpPr>
        <p:grpSpPr>
          <a:xfrm>
            <a:off x="2859023" y="2769044"/>
            <a:ext cx="5528945" cy="2486025"/>
            <a:chOff x="2859023" y="2769044"/>
            <a:chExt cx="5528945" cy="2486025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7C4D7A00-A36D-DDB5-90DD-9A3AC47FEE90}"/>
                </a:ext>
              </a:extLst>
            </p:cNvPr>
            <p:cNvSpPr/>
            <p:nvPr/>
          </p:nvSpPr>
          <p:spPr>
            <a:xfrm>
              <a:off x="4379975" y="4998720"/>
              <a:ext cx="73660" cy="108585"/>
            </a:xfrm>
            <a:custGeom>
              <a:avLst/>
              <a:gdLst/>
              <a:ahLst/>
              <a:cxnLst/>
              <a:rect l="l" t="t" r="r" b="b"/>
              <a:pathLst>
                <a:path w="73660" h="108585">
                  <a:moveTo>
                    <a:pt x="73151" y="0"/>
                  </a:moveTo>
                  <a:lnTo>
                    <a:pt x="0" y="0"/>
                  </a:lnTo>
                  <a:lnTo>
                    <a:pt x="0" y="108203"/>
                  </a:lnTo>
                  <a:lnTo>
                    <a:pt x="73151" y="108203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1417F75-5AC5-11E7-1312-6EEFFD0CEF48}"/>
                </a:ext>
              </a:extLst>
            </p:cNvPr>
            <p:cNvSpPr/>
            <p:nvPr/>
          </p:nvSpPr>
          <p:spPr>
            <a:xfrm>
              <a:off x="4379975" y="4998720"/>
              <a:ext cx="73660" cy="108585"/>
            </a:xfrm>
            <a:custGeom>
              <a:avLst/>
              <a:gdLst/>
              <a:ahLst/>
              <a:cxnLst/>
              <a:rect l="l" t="t" r="r" b="b"/>
              <a:pathLst>
                <a:path w="73660" h="108585">
                  <a:moveTo>
                    <a:pt x="0" y="108203"/>
                  </a:moveTo>
                  <a:lnTo>
                    <a:pt x="73151" y="108203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82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49087709-3D6D-54A6-66FC-6ED833FFBF31}"/>
                </a:ext>
              </a:extLst>
            </p:cNvPr>
            <p:cNvSpPr/>
            <p:nvPr/>
          </p:nvSpPr>
          <p:spPr>
            <a:xfrm>
              <a:off x="4379975" y="4632960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73151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3151" y="1097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5C56DCE-8440-7B85-9296-C7310031281E}"/>
                </a:ext>
              </a:extLst>
            </p:cNvPr>
            <p:cNvSpPr/>
            <p:nvPr/>
          </p:nvSpPr>
          <p:spPr>
            <a:xfrm>
              <a:off x="4379975" y="4632960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0" y="109727"/>
                  </a:moveTo>
                  <a:lnTo>
                    <a:pt x="73151" y="1097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53492428-DE29-09EC-4786-E2C9178BFFB6}"/>
                </a:ext>
              </a:extLst>
            </p:cNvPr>
            <p:cNvSpPr/>
            <p:nvPr/>
          </p:nvSpPr>
          <p:spPr>
            <a:xfrm>
              <a:off x="4379975" y="4230624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73151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3151" y="1097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53CB5645-7D29-0AB1-E1F1-86C0960DC9B3}"/>
                </a:ext>
              </a:extLst>
            </p:cNvPr>
            <p:cNvSpPr/>
            <p:nvPr/>
          </p:nvSpPr>
          <p:spPr>
            <a:xfrm>
              <a:off x="4379975" y="4230624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0" y="109727"/>
                  </a:moveTo>
                  <a:lnTo>
                    <a:pt x="73151" y="1097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36AD1E35-D15D-279A-9D72-814653DA72CB}"/>
                </a:ext>
              </a:extLst>
            </p:cNvPr>
            <p:cNvSpPr/>
            <p:nvPr/>
          </p:nvSpPr>
          <p:spPr>
            <a:xfrm>
              <a:off x="4379975" y="3793236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73151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3151" y="1097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1E270670-5CC4-D4A3-77E6-ACD1F53643C5}"/>
                </a:ext>
              </a:extLst>
            </p:cNvPr>
            <p:cNvSpPr/>
            <p:nvPr/>
          </p:nvSpPr>
          <p:spPr>
            <a:xfrm>
              <a:off x="4379975" y="3793236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0" y="109727"/>
                  </a:moveTo>
                  <a:lnTo>
                    <a:pt x="73151" y="1097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E42A1AB3-E00A-54E6-DA09-C62F5CB5861C}"/>
                </a:ext>
              </a:extLst>
            </p:cNvPr>
            <p:cNvSpPr/>
            <p:nvPr/>
          </p:nvSpPr>
          <p:spPr>
            <a:xfrm>
              <a:off x="4379975" y="3427476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73151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3151" y="1097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53DE7C08-C248-270F-6559-A742F2306431}"/>
                </a:ext>
              </a:extLst>
            </p:cNvPr>
            <p:cNvSpPr/>
            <p:nvPr/>
          </p:nvSpPr>
          <p:spPr>
            <a:xfrm>
              <a:off x="4379975" y="3427476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4">
                  <a:moveTo>
                    <a:pt x="0" y="109727"/>
                  </a:moveTo>
                  <a:lnTo>
                    <a:pt x="73151" y="1097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301FF719-2888-11AD-E2F2-21D8CE633F0C}"/>
                </a:ext>
              </a:extLst>
            </p:cNvPr>
            <p:cNvSpPr/>
            <p:nvPr/>
          </p:nvSpPr>
          <p:spPr>
            <a:xfrm>
              <a:off x="4379975" y="3063240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5">
                  <a:moveTo>
                    <a:pt x="73151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3151" y="1097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2FDD8960-6E2E-9907-C57F-9BD267C1C84F}"/>
                </a:ext>
              </a:extLst>
            </p:cNvPr>
            <p:cNvSpPr/>
            <p:nvPr/>
          </p:nvSpPr>
          <p:spPr>
            <a:xfrm>
              <a:off x="4379975" y="3063240"/>
              <a:ext cx="73660" cy="109855"/>
            </a:xfrm>
            <a:custGeom>
              <a:avLst/>
              <a:gdLst/>
              <a:ahLst/>
              <a:cxnLst/>
              <a:rect l="l" t="t" r="r" b="b"/>
              <a:pathLst>
                <a:path w="73660" h="109855">
                  <a:moveTo>
                    <a:pt x="0" y="109727"/>
                  </a:moveTo>
                  <a:lnTo>
                    <a:pt x="73151" y="1097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AE4AB796-63CC-6533-B843-A77655E7BC6C}"/>
                </a:ext>
              </a:extLst>
            </p:cNvPr>
            <p:cNvSpPr/>
            <p:nvPr/>
          </p:nvSpPr>
          <p:spPr>
            <a:xfrm>
              <a:off x="7374635" y="4998720"/>
              <a:ext cx="71755" cy="108585"/>
            </a:xfrm>
            <a:custGeom>
              <a:avLst/>
              <a:gdLst/>
              <a:ahLst/>
              <a:cxnLst/>
              <a:rect l="l" t="t" r="r" b="b"/>
              <a:pathLst>
                <a:path w="71754" h="108585">
                  <a:moveTo>
                    <a:pt x="71627" y="0"/>
                  </a:moveTo>
                  <a:lnTo>
                    <a:pt x="0" y="0"/>
                  </a:lnTo>
                  <a:lnTo>
                    <a:pt x="0" y="108203"/>
                  </a:lnTo>
                  <a:lnTo>
                    <a:pt x="71627" y="108203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09C23AE3-14FC-1093-4E1E-45A1237DD3F0}"/>
                </a:ext>
              </a:extLst>
            </p:cNvPr>
            <p:cNvSpPr/>
            <p:nvPr/>
          </p:nvSpPr>
          <p:spPr>
            <a:xfrm>
              <a:off x="7374635" y="4998720"/>
              <a:ext cx="71755" cy="108585"/>
            </a:xfrm>
            <a:custGeom>
              <a:avLst/>
              <a:gdLst/>
              <a:ahLst/>
              <a:cxnLst/>
              <a:rect l="l" t="t" r="r" b="b"/>
              <a:pathLst>
                <a:path w="71754" h="108585">
                  <a:moveTo>
                    <a:pt x="0" y="108203"/>
                  </a:moveTo>
                  <a:lnTo>
                    <a:pt x="71627" y="108203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82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7D489353-0F5D-8C0F-F45A-97C95637A7F7}"/>
                </a:ext>
              </a:extLst>
            </p:cNvPr>
            <p:cNvSpPr/>
            <p:nvPr/>
          </p:nvSpPr>
          <p:spPr>
            <a:xfrm>
              <a:off x="7374635" y="4632960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716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1627" y="1097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D7503FF2-97BE-1D27-68E7-1BD57F851150}"/>
                </a:ext>
              </a:extLst>
            </p:cNvPr>
            <p:cNvSpPr/>
            <p:nvPr/>
          </p:nvSpPr>
          <p:spPr>
            <a:xfrm>
              <a:off x="7374635" y="4632960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0" y="109727"/>
                  </a:moveTo>
                  <a:lnTo>
                    <a:pt x="71627" y="1097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74D821F9-1C39-365E-1A81-25B27393FE76}"/>
                </a:ext>
              </a:extLst>
            </p:cNvPr>
            <p:cNvSpPr/>
            <p:nvPr/>
          </p:nvSpPr>
          <p:spPr>
            <a:xfrm>
              <a:off x="7374635" y="4230624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716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1627" y="1097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3B5D222C-0BAD-D880-6752-22F440DF52A0}"/>
                </a:ext>
              </a:extLst>
            </p:cNvPr>
            <p:cNvSpPr/>
            <p:nvPr/>
          </p:nvSpPr>
          <p:spPr>
            <a:xfrm>
              <a:off x="7374635" y="4230624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0" y="109727"/>
                  </a:moveTo>
                  <a:lnTo>
                    <a:pt x="71627" y="1097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F81725F5-B1F6-582C-ED28-98A8E86B8B74}"/>
                </a:ext>
              </a:extLst>
            </p:cNvPr>
            <p:cNvSpPr/>
            <p:nvPr/>
          </p:nvSpPr>
          <p:spPr>
            <a:xfrm>
              <a:off x="7374635" y="3793236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716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1627" y="1097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CACE5783-15F5-D4B1-CE6E-97DDB647090F}"/>
                </a:ext>
              </a:extLst>
            </p:cNvPr>
            <p:cNvSpPr/>
            <p:nvPr/>
          </p:nvSpPr>
          <p:spPr>
            <a:xfrm>
              <a:off x="7374635" y="3793236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0" y="109727"/>
                  </a:moveTo>
                  <a:lnTo>
                    <a:pt x="71627" y="1097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9F52962B-ABCE-650E-9F1A-1B6EA98E4A17}"/>
                </a:ext>
              </a:extLst>
            </p:cNvPr>
            <p:cNvSpPr/>
            <p:nvPr/>
          </p:nvSpPr>
          <p:spPr>
            <a:xfrm>
              <a:off x="7374635" y="3427476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716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1627" y="1097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74B4D188-1396-DF35-A852-0EA171110D60}"/>
                </a:ext>
              </a:extLst>
            </p:cNvPr>
            <p:cNvSpPr/>
            <p:nvPr/>
          </p:nvSpPr>
          <p:spPr>
            <a:xfrm>
              <a:off x="7374635" y="3427476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4">
                  <a:moveTo>
                    <a:pt x="0" y="109727"/>
                  </a:moveTo>
                  <a:lnTo>
                    <a:pt x="71627" y="1097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361AA0E3-0B84-8D42-D9D6-EF721463AB4F}"/>
                </a:ext>
              </a:extLst>
            </p:cNvPr>
            <p:cNvSpPr/>
            <p:nvPr/>
          </p:nvSpPr>
          <p:spPr>
            <a:xfrm>
              <a:off x="7374635" y="3063240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5">
                  <a:moveTo>
                    <a:pt x="716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71627" y="109727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4">
              <a:extLst>
                <a:ext uri="{FF2B5EF4-FFF2-40B4-BE49-F238E27FC236}">
                  <a16:creationId xmlns:a16="http://schemas.microsoft.com/office/drawing/2014/main" id="{AEDDCCE1-9CBC-097E-40D6-D971519043FF}"/>
                </a:ext>
              </a:extLst>
            </p:cNvPr>
            <p:cNvSpPr/>
            <p:nvPr/>
          </p:nvSpPr>
          <p:spPr>
            <a:xfrm>
              <a:off x="7374635" y="3063240"/>
              <a:ext cx="71755" cy="109855"/>
            </a:xfrm>
            <a:custGeom>
              <a:avLst/>
              <a:gdLst/>
              <a:ahLst/>
              <a:cxnLst/>
              <a:rect l="l" t="t" r="r" b="b"/>
              <a:pathLst>
                <a:path w="71754" h="109855">
                  <a:moveTo>
                    <a:pt x="0" y="109727"/>
                  </a:moveTo>
                  <a:lnTo>
                    <a:pt x="71627" y="109727"/>
                  </a:lnTo>
                  <a:lnTo>
                    <a:pt x="716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DE1C6401-BF33-8E23-DEA4-0BBDB1F1CD96}"/>
                </a:ext>
              </a:extLst>
            </p:cNvPr>
            <p:cNvSpPr/>
            <p:nvPr/>
          </p:nvSpPr>
          <p:spPr>
            <a:xfrm>
              <a:off x="4715255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138684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38684" y="73152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6">
              <a:extLst>
                <a:ext uri="{FF2B5EF4-FFF2-40B4-BE49-F238E27FC236}">
                  <a16:creationId xmlns:a16="http://schemas.microsoft.com/office/drawing/2014/main" id="{9B859337-C264-7A06-5FDC-A61F307E226C}"/>
                </a:ext>
              </a:extLst>
            </p:cNvPr>
            <p:cNvSpPr/>
            <p:nvPr/>
          </p:nvSpPr>
          <p:spPr>
            <a:xfrm>
              <a:off x="4715255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0" y="73152"/>
                  </a:moveTo>
                  <a:lnTo>
                    <a:pt x="138684" y="73152"/>
                  </a:lnTo>
                  <a:lnTo>
                    <a:pt x="138684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AE6AB9BA-16A5-4AF3-25ED-60C69F7B9736}"/>
                </a:ext>
              </a:extLst>
            </p:cNvPr>
            <p:cNvSpPr/>
            <p:nvPr/>
          </p:nvSpPr>
          <p:spPr>
            <a:xfrm>
              <a:off x="5811011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138684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38684" y="73152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98F1EA65-B298-9F90-3F23-4D6540D1A6D7}"/>
                </a:ext>
              </a:extLst>
            </p:cNvPr>
            <p:cNvSpPr/>
            <p:nvPr/>
          </p:nvSpPr>
          <p:spPr>
            <a:xfrm>
              <a:off x="5811011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0" y="73152"/>
                  </a:moveTo>
                  <a:lnTo>
                    <a:pt x="138684" y="73152"/>
                  </a:lnTo>
                  <a:lnTo>
                    <a:pt x="138684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9">
              <a:extLst>
                <a:ext uri="{FF2B5EF4-FFF2-40B4-BE49-F238E27FC236}">
                  <a16:creationId xmlns:a16="http://schemas.microsoft.com/office/drawing/2014/main" id="{91BE4C36-4AF9-38DA-9E15-213ECEE77291}"/>
                </a:ext>
              </a:extLst>
            </p:cNvPr>
            <p:cNvSpPr/>
            <p:nvPr/>
          </p:nvSpPr>
          <p:spPr>
            <a:xfrm>
              <a:off x="6102095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140208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40208" y="73152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0">
              <a:extLst>
                <a:ext uri="{FF2B5EF4-FFF2-40B4-BE49-F238E27FC236}">
                  <a16:creationId xmlns:a16="http://schemas.microsoft.com/office/drawing/2014/main" id="{A63CE413-2064-F55F-3EB0-987090E4CF9A}"/>
                </a:ext>
              </a:extLst>
            </p:cNvPr>
            <p:cNvSpPr/>
            <p:nvPr/>
          </p:nvSpPr>
          <p:spPr>
            <a:xfrm>
              <a:off x="6102095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0" y="73152"/>
                  </a:moveTo>
                  <a:lnTo>
                    <a:pt x="140208" y="73152"/>
                  </a:lnTo>
                  <a:lnTo>
                    <a:pt x="140208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1">
              <a:extLst>
                <a:ext uri="{FF2B5EF4-FFF2-40B4-BE49-F238E27FC236}">
                  <a16:creationId xmlns:a16="http://schemas.microsoft.com/office/drawing/2014/main" id="{1F99D55B-154C-F082-2D83-40E4F11DA93B}"/>
                </a:ext>
              </a:extLst>
            </p:cNvPr>
            <p:cNvSpPr/>
            <p:nvPr/>
          </p:nvSpPr>
          <p:spPr>
            <a:xfrm>
              <a:off x="6425183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5" h="73660">
                  <a:moveTo>
                    <a:pt x="138684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38684" y="73152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2">
              <a:extLst>
                <a:ext uri="{FF2B5EF4-FFF2-40B4-BE49-F238E27FC236}">
                  <a16:creationId xmlns:a16="http://schemas.microsoft.com/office/drawing/2014/main" id="{C528B11D-021D-4F02-2B5C-470723BC60F1}"/>
                </a:ext>
              </a:extLst>
            </p:cNvPr>
            <p:cNvSpPr/>
            <p:nvPr/>
          </p:nvSpPr>
          <p:spPr>
            <a:xfrm>
              <a:off x="6425183" y="5180076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5" h="73660">
                  <a:moveTo>
                    <a:pt x="0" y="73152"/>
                  </a:moveTo>
                  <a:lnTo>
                    <a:pt x="138684" y="73152"/>
                  </a:lnTo>
                  <a:lnTo>
                    <a:pt x="138684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3">
              <a:extLst>
                <a:ext uri="{FF2B5EF4-FFF2-40B4-BE49-F238E27FC236}">
                  <a16:creationId xmlns:a16="http://schemas.microsoft.com/office/drawing/2014/main" id="{43D1F686-2E84-29A6-2CFB-5FF2C11CCB58}"/>
                </a:ext>
              </a:extLst>
            </p:cNvPr>
            <p:cNvSpPr/>
            <p:nvPr/>
          </p:nvSpPr>
          <p:spPr>
            <a:xfrm>
              <a:off x="6795515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140207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40207" y="73152"/>
                  </a:lnTo>
                  <a:lnTo>
                    <a:pt x="14020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4">
              <a:extLst>
                <a:ext uri="{FF2B5EF4-FFF2-40B4-BE49-F238E27FC236}">
                  <a16:creationId xmlns:a16="http://schemas.microsoft.com/office/drawing/2014/main" id="{F19024D1-A351-658D-2094-D75E9F4CA09D}"/>
                </a:ext>
              </a:extLst>
            </p:cNvPr>
            <p:cNvSpPr/>
            <p:nvPr/>
          </p:nvSpPr>
          <p:spPr>
            <a:xfrm>
              <a:off x="6795515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0" y="73152"/>
                  </a:moveTo>
                  <a:lnTo>
                    <a:pt x="140207" y="73152"/>
                  </a:lnTo>
                  <a:lnTo>
                    <a:pt x="140207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5">
              <a:extLst>
                <a:ext uri="{FF2B5EF4-FFF2-40B4-BE49-F238E27FC236}">
                  <a16:creationId xmlns:a16="http://schemas.microsoft.com/office/drawing/2014/main" id="{E6288EB9-720B-9A9E-9AE2-B34BA447CBA5}"/>
                </a:ext>
              </a:extLst>
            </p:cNvPr>
            <p:cNvSpPr/>
            <p:nvPr/>
          </p:nvSpPr>
          <p:spPr>
            <a:xfrm>
              <a:off x="7124700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140207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140207" y="73152"/>
                  </a:lnTo>
                  <a:lnTo>
                    <a:pt x="14020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511E89CA-70CD-1581-A390-7A63901FB2B6}"/>
                </a:ext>
              </a:extLst>
            </p:cNvPr>
            <p:cNvSpPr/>
            <p:nvPr/>
          </p:nvSpPr>
          <p:spPr>
            <a:xfrm>
              <a:off x="7124700" y="5180076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0" y="73152"/>
                  </a:moveTo>
                  <a:lnTo>
                    <a:pt x="140207" y="73152"/>
                  </a:lnTo>
                  <a:lnTo>
                    <a:pt x="140207" y="0"/>
                  </a:ln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401B0D99-A4FE-8EFA-5063-D27E0A3FF03D}"/>
                </a:ext>
              </a:extLst>
            </p:cNvPr>
            <p:cNvSpPr/>
            <p:nvPr/>
          </p:nvSpPr>
          <p:spPr>
            <a:xfrm>
              <a:off x="4709159" y="2770632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138684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38684" y="73151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5EF53BA3-E61E-D004-1DFF-89575E29D4A1}"/>
                </a:ext>
              </a:extLst>
            </p:cNvPr>
            <p:cNvSpPr/>
            <p:nvPr/>
          </p:nvSpPr>
          <p:spPr>
            <a:xfrm>
              <a:off x="4709159" y="2770632"/>
              <a:ext cx="139065" cy="73660"/>
            </a:xfrm>
            <a:custGeom>
              <a:avLst/>
              <a:gdLst/>
              <a:ahLst/>
              <a:cxnLst/>
              <a:rect l="l" t="t" r="r" b="b"/>
              <a:pathLst>
                <a:path w="139064" h="73660">
                  <a:moveTo>
                    <a:pt x="0" y="73151"/>
                  </a:moveTo>
                  <a:lnTo>
                    <a:pt x="138684" y="73151"/>
                  </a:lnTo>
                  <a:lnTo>
                    <a:pt x="138684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9">
              <a:extLst>
                <a:ext uri="{FF2B5EF4-FFF2-40B4-BE49-F238E27FC236}">
                  <a16:creationId xmlns:a16="http://schemas.microsoft.com/office/drawing/2014/main" id="{2CD3930F-D29E-515D-31CD-6A5A90119F81}"/>
                </a:ext>
              </a:extLst>
            </p:cNvPr>
            <p:cNvSpPr/>
            <p:nvPr/>
          </p:nvSpPr>
          <p:spPr>
            <a:xfrm>
              <a:off x="5036819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14020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40208" y="73151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8AB1ADFF-C87D-FFB4-62CD-14BA56B81A21}"/>
                </a:ext>
              </a:extLst>
            </p:cNvPr>
            <p:cNvSpPr/>
            <p:nvPr/>
          </p:nvSpPr>
          <p:spPr>
            <a:xfrm>
              <a:off x="5036819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0" y="73151"/>
                  </a:moveTo>
                  <a:lnTo>
                    <a:pt x="140208" y="73151"/>
                  </a:lnTo>
                  <a:lnTo>
                    <a:pt x="14020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1">
              <a:extLst>
                <a:ext uri="{FF2B5EF4-FFF2-40B4-BE49-F238E27FC236}">
                  <a16:creationId xmlns:a16="http://schemas.microsoft.com/office/drawing/2014/main" id="{D4EB2408-02B0-E64A-8FD2-B67CDC216689}"/>
                </a:ext>
              </a:extLst>
            </p:cNvPr>
            <p:cNvSpPr/>
            <p:nvPr/>
          </p:nvSpPr>
          <p:spPr>
            <a:xfrm>
              <a:off x="6132576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140208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40208" y="73151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2">
              <a:extLst>
                <a:ext uri="{FF2B5EF4-FFF2-40B4-BE49-F238E27FC236}">
                  <a16:creationId xmlns:a16="http://schemas.microsoft.com/office/drawing/2014/main" id="{37F56346-ACBD-319F-EB91-0F4B24325F08}"/>
                </a:ext>
              </a:extLst>
            </p:cNvPr>
            <p:cNvSpPr/>
            <p:nvPr/>
          </p:nvSpPr>
          <p:spPr>
            <a:xfrm>
              <a:off x="6132576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5" h="73660">
                  <a:moveTo>
                    <a:pt x="0" y="73151"/>
                  </a:moveTo>
                  <a:lnTo>
                    <a:pt x="140208" y="73151"/>
                  </a:lnTo>
                  <a:lnTo>
                    <a:pt x="140208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3">
              <a:extLst>
                <a:ext uri="{FF2B5EF4-FFF2-40B4-BE49-F238E27FC236}">
                  <a16:creationId xmlns:a16="http://schemas.microsoft.com/office/drawing/2014/main" id="{69DFE700-1060-B902-3D6B-4D7D04D31755}"/>
                </a:ext>
              </a:extLst>
            </p:cNvPr>
            <p:cNvSpPr/>
            <p:nvPr/>
          </p:nvSpPr>
          <p:spPr>
            <a:xfrm>
              <a:off x="7045452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140207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40207" y="73151"/>
                  </a:lnTo>
                  <a:lnTo>
                    <a:pt x="140207" y="0"/>
                  </a:lnTo>
                  <a:close/>
                </a:path>
              </a:pathLst>
            </a:custGeom>
            <a:solidFill>
              <a:srgbClr val="9FB8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4">
              <a:extLst>
                <a:ext uri="{FF2B5EF4-FFF2-40B4-BE49-F238E27FC236}">
                  <a16:creationId xmlns:a16="http://schemas.microsoft.com/office/drawing/2014/main" id="{D3A1A0F7-45AF-F632-1F32-384A08BEE96F}"/>
                </a:ext>
              </a:extLst>
            </p:cNvPr>
            <p:cNvSpPr/>
            <p:nvPr/>
          </p:nvSpPr>
          <p:spPr>
            <a:xfrm>
              <a:off x="7045452" y="2770632"/>
              <a:ext cx="140335" cy="73660"/>
            </a:xfrm>
            <a:custGeom>
              <a:avLst/>
              <a:gdLst/>
              <a:ahLst/>
              <a:cxnLst/>
              <a:rect l="l" t="t" r="r" b="b"/>
              <a:pathLst>
                <a:path w="140334" h="73660">
                  <a:moveTo>
                    <a:pt x="0" y="73151"/>
                  </a:moveTo>
                  <a:lnTo>
                    <a:pt x="140207" y="73151"/>
                  </a:lnTo>
                  <a:lnTo>
                    <a:pt x="140207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5">
              <a:extLst>
                <a:ext uri="{FF2B5EF4-FFF2-40B4-BE49-F238E27FC236}">
                  <a16:creationId xmlns:a16="http://schemas.microsoft.com/office/drawing/2014/main" id="{654CF215-1590-5B1E-A52F-5A61034F64C2}"/>
                </a:ext>
              </a:extLst>
            </p:cNvPr>
            <p:cNvSpPr/>
            <p:nvPr/>
          </p:nvSpPr>
          <p:spPr>
            <a:xfrm>
              <a:off x="2859024" y="3118865"/>
              <a:ext cx="5528945" cy="767715"/>
            </a:xfrm>
            <a:custGeom>
              <a:avLst/>
              <a:gdLst/>
              <a:ahLst/>
              <a:cxnLst/>
              <a:rect l="l" t="t" r="r" b="b"/>
              <a:pathLst>
                <a:path w="5528945" h="767714">
                  <a:moveTo>
                    <a:pt x="1485265" y="602488"/>
                  </a:moveTo>
                  <a:lnTo>
                    <a:pt x="1478241" y="596519"/>
                  </a:lnTo>
                  <a:lnTo>
                    <a:pt x="1420368" y="547243"/>
                  </a:lnTo>
                  <a:lnTo>
                    <a:pt x="1413510" y="574941"/>
                  </a:lnTo>
                  <a:lnTo>
                    <a:pt x="4572" y="226949"/>
                  </a:lnTo>
                  <a:lnTo>
                    <a:pt x="0" y="245491"/>
                  </a:lnTo>
                  <a:lnTo>
                    <a:pt x="1408925" y="593483"/>
                  </a:lnTo>
                  <a:lnTo>
                    <a:pt x="1402080" y="621157"/>
                  </a:lnTo>
                  <a:lnTo>
                    <a:pt x="1485265" y="602488"/>
                  </a:lnTo>
                  <a:close/>
                </a:path>
                <a:path w="5528945" h="767714">
                  <a:moveTo>
                    <a:pt x="5528818" y="711454"/>
                  </a:moveTo>
                  <a:lnTo>
                    <a:pt x="4654220" y="38874"/>
                  </a:lnTo>
                  <a:lnTo>
                    <a:pt x="4660163" y="31115"/>
                  </a:lnTo>
                  <a:lnTo>
                    <a:pt x="4671568" y="16256"/>
                  </a:lnTo>
                  <a:lnTo>
                    <a:pt x="4588002" y="0"/>
                  </a:lnTo>
                  <a:lnTo>
                    <a:pt x="4625213" y="76708"/>
                  </a:lnTo>
                  <a:lnTo>
                    <a:pt x="4642637" y="53975"/>
                  </a:lnTo>
                  <a:lnTo>
                    <a:pt x="5468023" y="688733"/>
                  </a:lnTo>
                  <a:lnTo>
                    <a:pt x="4662602" y="383844"/>
                  </a:lnTo>
                  <a:lnTo>
                    <a:pt x="4664303" y="379349"/>
                  </a:lnTo>
                  <a:lnTo>
                    <a:pt x="4672711" y="357124"/>
                  </a:lnTo>
                  <a:lnTo>
                    <a:pt x="4588002" y="365760"/>
                  </a:lnTo>
                  <a:lnTo>
                    <a:pt x="4645787" y="428371"/>
                  </a:lnTo>
                  <a:lnTo>
                    <a:pt x="4655883" y="401637"/>
                  </a:lnTo>
                  <a:lnTo>
                    <a:pt x="5471642" y="710425"/>
                  </a:lnTo>
                  <a:lnTo>
                    <a:pt x="4664062" y="720077"/>
                  </a:lnTo>
                  <a:lnTo>
                    <a:pt x="4663694" y="691515"/>
                  </a:lnTo>
                  <a:lnTo>
                    <a:pt x="4588002" y="730504"/>
                  </a:lnTo>
                  <a:lnTo>
                    <a:pt x="4664710" y="767715"/>
                  </a:lnTo>
                  <a:lnTo>
                    <a:pt x="4664329" y="739267"/>
                  </a:lnTo>
                  <a:lnTo>
                    <a:pt x="4664316" y="739127"/>
                  </a:lnTo>
                  <a:lnTo>
                    <a:pt x="5523103" y="728853"/>
                  </a:lnTo>
                  <a:lnTo>
                    <a:pt x="5523027" y="719734"/>
                  </a:lnTo>
                  <a:lnTo>
                    <a:pt x="5523560" y="718324"/>
                  </a:lnTo>
                  <a:lnTo>
                    <a:pt x="5528818" y="7114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6">
            <a:extLst>
              <a:ext uri="{FF2B5EF4-FFF2-40B4-BE49-F238E27FC236}">
                <a16:creationId xmlns:a16="http://schemas.microsoft.com/office/drawing/2014/main" id="{03585EF3-5C0B-3AC8-8375-8770EA0EF7ED}"/>
              </a:ext>
            </a:extLst>
          </p:cNvPr>
          <p:cNvSpPr txBox="1"/>
          <p:nvPr/>
        </p:nvSpPr>
        <p:spPr>
          <a:xfrm>
            <a:off x="2136394" y="3227324"/>
            <a:ext cx="638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Gill Sans MT"/>
                <a:cs typeface="Gill Sans MT"/>
              </a:rPr>
              <a:t>Die</a:t>
            </a:r>
            <a:r>
              <a:rPr sz="1400" spc="-35" dirty="0">
                <a:latin typeface="Gill Sans MT"/>
                <a:cs typeface="Gill Sans MT"/>
              </a:rPr>
              <a:t> </a:t>
            </a:r>
            <a:r>
              <a:rPr sz="1400" spc="-20" dirty="0">
                <a:latin typeface="Gill Sans MT"/>
                <a:cs typeface="Gill Sans MT"/>
              </a:rPr>
              <a:t>area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6D045F0D-2B4C-67C6-38A8-4A00A9796509}"/>
              </a:ext>
            </a:extLst>
          </p:cNvPr>
          <p:cNvSpPr txBox="1"/>
          <p:nvPr/>
        </p:nvSpPr>
        <p:spPr>
          <a:xfrm>
            <a:off x="2924048" y="3951223"/>
            <a:ext cx="755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ill Sans MT"/>
                <a:cs typeface="Gill Sans MT"/>
              </a:rPr>
              <a:t>Core</a:t>
            </a:r>
            <a:r>
              <a:rPr sz="1400" spc="-50" dirty="0">
                <a:latin typeface="Gill Sans MT"/>
                <a:cs typeface="Gill Sans MT"/>
              </a:rPr>
              <a:t> </a:t>
            </a:r>
            <a:r>
              <a:rPr sz="1400" spc="-20" dirty="0">
                <a:latin typeface="Gill Sans MT"/>
                <a:cs typeface="Gill Sans MT"/>
              </a:rPr>
              <a:t>area</a:t>
            </a:r>
            <a:endParaRPr sz="1400">
              <a:latin typeface="Gill Sans MT"/>
              <a:cs typeface="Gill Sans MT"/>
            </a:endParaRPr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F2CB4FAE-7808-3008-B464-288A4FEDE7B0}"/>
              </a:ext>
            </a:extLst>
          </p:cNvPr>
          <p:cNvSpPr/>
          <p:nvPr/>
        </p:nvSpPr>
        <p:spPr>
          <a:xfrm>
            <a:off x="3706114" y="4094226"/>
            <a:ext cx="993140" cy="304800"/>
          </a:xfrm>
          <a:custGeom>
            <a:avLst/>
            <a:gdLst/>
            <a:ahLst/>
            <a:cxnLst/>
            <a:rect l="l" t="t" r="r" b="b"/>
            <a:pathLst>
              <a:path w="993139" h="304800">
                <a:moveTo>
                  <a:pt x="917219" y="276984"/>
                </a:moveTo>
                <a:lnTo>
                  <a:pt x="909447" y="304546"/>
                </a:lnTo>
                <a:lnTo>
                  <a:pt x="993139" y="288544"/>
                </a:lnTo>
                <a:lnTo>
                  <a:pt x="984220" y="280416"/>
                </a:lnTo>
                <a:lnTo>
                  <a:pt x="929386" y="280416"/>
                </a:lnTo>
                <a:lnTo>
                  <a:pt x="917219" y="276984"/>
                </a:lnTo>
                <a:close/>
              </a:path>
              <a:path w="993139" h="304800">
                <a:moveTo>
                  <a:pt x="922380" y="258683"/>
                </a:moveTo>
                <a:lnTo>
                  <a:pt x="917219" y="276984"/>
                </a:lnTo>
                <a:lnTo>
                  <a:pt x="929386" y="280416"/>
                </a:lnTo>
                <a:lnTo>
                  <a:pt x="934593" y="262128"/>
                </a:lnTo>
                <a:lnTo>
                  <a:pt x="922380" y="258683"/>
                </a:lnTo>
                <a:close/>
              </a:path>
              <a:path w="993139" h="304800">
                <a:moveTo>
                  <a:pt x="930148" y="231140"/>
                </a:moveTo>
                <a:lnTo>
                  <a:pt x="922380" y="258683"/>
                </a:lnTo>
                <a:lnTo>
                  <a:pt x="934593" y="262128"/>
                </a:lnTo>
                <a:lnTo>
                  <a:pt x="929386" y="280416"/>
                </a:lnTo>
                <a:lnTo>
                  <a:pt x="984220" y="280416"/>
                </a:lnTo>
                <a:lnTo>
                  <a:pt x="930148" y="231140"/>
                </a:lnTo>
                <a:close/>
              </a:path>
              <a:path w="993139" h="304800">
                <a:moveTo>
                  <a:pt x="5080" y="0"/>
                </a:moveTo>
                <a:lnTo>
                  <a:pt x="0" y="18287"/>
                </a:lnTo>
                <a:lnTo>
                  <a:pt x="917219" y="276984"/>
                </a:lnTo>
                <a:lnTo>
                  <a:pt x="922380" y="258683"/>
                </a:lnTo>
                <a:lnTo>
                  <a:pt x="5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5AD4692E-C077-59F2-5988-F5883167EC6B}"/>
              </a:ext>
            </a:extLst>
          </p:cNvPr>
          <p:cNvSpPr txBox="1"/>
          <p:nvPr/>
        </p:nvSpPr>
        <p:spPr>
          <a:xfrm>
            <a:off x="8462009" y="3709796"/>
            <a:ext cx="2482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Gill Sans MT"/>
                <a:cs typeface="Gill Sans MT"/>
              </a:rPr>
              <a:t>Terminals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(ports</a:t>
            </a:r>
            <a:r>
              <a:rPr sz="1400" spc="20" dirty="0">
                <a:latin typeface="Gill Sans MT"/>
                <a:cs typeface="Gill Sans MT"/>
              </a:rPr>
              <a:t> </a:t>
            </a:r>
            <a:r>
              <a:rPr sz="1400" spc="-10" dirty="0">
                <a:latin typeface="Gill Sans MT"/>
                <a:cs typeface="Gill Sans MT"/>
              </a:rPr>
              <a:t>implementation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spc="-50" dirty="0">
                <a:latin typeface="Gill Sans MT"/>
                <a:cs typeface="Gill Sans MT"/>
              </a:rPr>
              <a:t>)</a:t>
            </a:r>
            <a:endParaRPr sz="140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3535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008" y="135613"/>
            <a:ext cx="10515600" cy="1325563"/>
          </a:xfrm>
          <a:prstGeom prst="rect">
            <a:avLst/>
          </a:prstGeom>
        </p:spPr>
        <p:txBody>
          <a:bodyPr vert="horz" wrap="square" lIns="0" tIns="475361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5"/>
              </a:spcBef>
            </a:pPr>
            <a:r>
              <a:rPr dirty="0"/>
              <a:t>Floorplanning:</a:t>
            </a:r>
            <a:r>
              <a:rPr spc="-55" dirty="0"/>
              <a:t> </a:t>
            </a:r>
            <a:r>
              <a:rPr dirty="0"/>
              <a:t>Area</a:t>
            </a:r>
            <a:r>
              <a:rPr spc="-45" dirty="0"/>
              <a:t> </a:t>
            </a:r>
            <a:r>
              <a:rPr spc="-10" dirty="0"/>
              <a:t>Utilization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1328673"/>
            <a:ext cx="7280909" cy="1264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75000"/>
              <a:buFont typeface="Arial"/>
              <a:buChar char="•"/>
              <a:tabLst>
                <a:tab pos="240665" algn="l"/>
              </a:tabLst>
            </a:pPr>
            <a:r>
              <a:rPr sz="1800" b="1" spc="-10" dirty="0">
                <a:solidFill>
                  <a:srgbClr val="006EC0"/>
                </a:solidFill>
                <a:latin typeface="Arial Narrow"/>
                <a:cs typeface="Arial Narrow"/>
              </a:rPr>
              <a:t>Utilization</a:t>
            </a:r>
            <a:r>
              <a:rPr sz="1800" b="1" spc="-50" dirty="0">
                <a:solidFill>
                  <a:srgbClr val="006EC0"/>
                </a:solidFill>
                <a:latin typeface="Arial Narrow"/>
                <a:cs typeface="Arial Narrow"/>
              </a:rPr>
              <a:t> </a:t>
            </a:r>
            <a:r>
              <a:rPr sz="1800" b="1" spc="-20" dirty="0">
                <a:latin typeface="Arial Narrow"/>
                <a:cs typeface="Arial Narrow"/>
              </a:rPr>
              <a:t>refers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to</a:t>
            </a:r>
            <a:r>
              <a:rPr sz="1800" b="1" spc="-9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the</a:t>
            </a:r>
            <a:r>
              <a:rPr sz="1800" b="1" spc="-75" dirty="0">
                <a:latin typeface="Arial Narrow"/>
                <a:cs typeface="Arial Narrow"/>
              </a:rPr>
              <a:t> </a:t>
            </a:r>
            <a:r>
              <a:rPr sz="1800" b="1" spc="-20" dirty="0">
                <a:latin typeface="Arial Narrow"/>
                <a:cs typeface="Arial Narrow"/>
              </a:rPr>
              <a:t>percentage</a:t>
            </a:r>
            <a:r>
              <a:rPr sz="1800" b="1" spc="-6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of</a:t>
            </a:r>
            <a:r>
              <a:rPr sz="1800" b="1" spc="-80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core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area</a:t>
            </a:r>
            <a:r>
              <a:rPr sz="1800" b="1" spc="-4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that</a:t>
            </a:r>
            <a:r>
              <a:rPr sz="1800" b="1" spc="-9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is</a:t>
            </a:r>
            <a:r>
              <a:rPr sz="1800" b="1" spc="-50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taken</a:t>
            </a:r>
            <a:r>
              <a:rPr sz="1800" b="1" spc="-7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up</a:t>
            </a:r>
            <a:r>
              <a:rPr sz="1800" b="1" spc="-7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by</a:t>
            </a:r>
            <a:r>
              <a:rPr sz="1800" b="1" spc="-90" dirty="0">
                <a:latin typeface="Arial Narrow"/>
                <a:cs typeface="Arial Narrow"/>
              </a:rPr>
              <a:t> </a:t>
            </a:r>
            <a:r>
              <a:rPr sz="1800" b="1" spc="-25" dirty="0">
                <a:latin typeface="Arial Narrow"/>
                <a:cs typeface="Arial Narrow"/>
              </a:rPr>
              <a:t>standard</a:t>
            </a:r>
            <a:r>
              <a:rPr sz="1800" b="1" spc="-3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cells</a:t>
            </a:r>
            <a:endParaRPr sz="1800">
              <a:latin typeface="Arial Narrow"/>
              <a:cs typeface="Arial Narrow"/>
            </a:endParaRPr>
          </a:p>
          <a:p>
            <a:pPr marL="240665" indent="-227965">
              <a:lnSpc>
                <a:spcPct val="100000"/>
              </a:lnSpc>
              <a:spcBef>
                <a:spcPts val="1645"/>
              </a:spcBef>
              <a:buClr>
                <a:srgbClr val="006EC0"/>
              </a:buClr>
              <a:buSzPct val="75000"/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latin typeface="Arial Narrow"/>
                <a:cs typeface="Arial Narrow"/>
              </a:rPr>
              <a:t>High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Utilization</a:t>
            </a:r>
            <a:r>
              <a:rPr sz="1800" b="1" spc="-5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can</a:t>
            </a:r>
            <a:r>
              <a:rPr sz="1800" b="1" spc="-5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make</a:t>
            </a:r>
            <a:r>
              <a:rPr sz="1800" b="1" spc="-4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it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difficult</a:t>
            </a:r>
            <a:r>
              <a:rPr sz="1800" b="1" spc="-5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to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close</a:t>
            </a:r>
            <a:r>
              <a:rPr sz="1800" b="1" spc="-3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routing!</a:t>
            </a:r>
            <a:endParaRPr sz="1800">
              <a:latin typeface="Arial Narrow"/>
              <a:cs typeface="Arial Narrow"/>
            </a:endParaRPr>
          </a:p>
          <a:p>
            <a:pPr marL="240665" indent="-227965">
              <a:lnSpc>
                <a:spcPct val="100000"/>
              </a:lnSpc>
              <a:spcBef>
                <a:spcPts val="1630"/>
              </a:spcBef>
              <a:buClr>
                <a:srgbClr val="006EC0"/>
              </a:buClr>
              <a:buSzPct val="75000"/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latin typeface="Arial Narrow"/>
                <a:cs typeface="Arial Narrow"/>
              </a:rPr>
              <a:t>It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will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make</a:t>
            </a:r>
            <a:r>
              <a:rPr sz="1800" b="1" spc="-3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it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also</a:t>
            </a:r>
            <a:r>
              <a:rPr sz="1800" b="1" spc="-50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difficult</a:t>
            </a:r>
            <a:r>
              <a:rPr sz="1800" b="1" spc="-4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to</a:t>
            </a:r>
            <a:r>
              <a:rPr sz="1800" b="1" spc="-80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change</a:t>
            </a:r>
            <a:r>
              <a:rPr sz="1800" b="1" spc="-3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the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design</a:t>
            </a:r>
            <a:r>
              <a:rPr sz="1800" b="1" spc="-3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in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dirty="0">
                <a:latin typeface="Arial Narrow"/>
                <a:cs typeface="Arial Narrow"/>
              </a:rPr>
              <a:t>the</a:t>
            </a:r>
            <a:r>
              <a:rPr sz="1800" b="1" spc="-65" dirty="0">
                <a:latin typeface="Arial Narrow"/>
                <a:cs typeface="Arial Narrow"/>
              </a:rPr>
              <a:t> </a:t>
            </a:r>
            <a:r>
              <a:rPr sz="1800" b="1" spc="-10" dirty="0">
                <a:latin typeface="Arial Narrow"/>
                <a:cs typeface="Arial Narrow"/>
              </a:rPr>
              <a:t>future..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5918" y="4134777"/>
            <a:ext cx="1410335" cy="0"/>
          </a:xfrm>
          <a:custGeom>
            <a:avLst/>
            <a:gdLst/>
            <a:ahLst/>
            <a:cxnLst/>
            <a:rect l="l" t="t" r="r" b="b"/>
            <a:pathLst>
              <a:path w="1410335">
                <a:moveTo>
                  <a:pt x="0" y="0"/>
                </a:moveTo>
                <a:lnTo>
                  <a:pt x="1410071" y="0"/>
                </a:lnTo>
              </a:path>
            </a:pathLst>
          </a:custGeom>
          <a:ln w="142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07123" y="4131311"/>
            <a:ext cx="1149350" cy="367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i="1" spc="-10" dirty="0">
                <a:latin typeface="Times New Roman"/>
                <a:cs typeface="Times New Roman"/>
              </a:rPr>
              <a:t>CoreArea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101" y="3430301"/>
            <a:ext cx="1416685" cy="640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6000" spc="-15" baseline="-10416" dirty="0">
                <a:latin typeface="Symbol"/>
                <a:cs typeface="Symbol"/>
              </a:rPr>
              <a:t></a:t>
            </a:r>
            <a:r>
              <a:rPr sz="2250" i="1" spc="-10" dirty="0">
                <a:latin typeface="Times New Roman"/>
                <a:cs typeface="Times New Roman"/>
              </a:rPr>
              <a:t>cellArea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008" y="3908544"/>
            <a:ext cx="1492250" cy="367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50" i="1" dirty="0">
                <a:latin typeface="Times New Roman"/>
                <a:cs typeface="Times New Roman"/>
              </a:rPr>
              <a:t>Utilization</a:t>
            </a:r>
            <a:r>
              <a:rPr sz="2250" i="1" spc="40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1188" y="3163823"/>
            <a:ext cx="2682240" cy="26106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49215" y="5826048"/>
            <a:ext cx="180784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Low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standard-</a:t>
            </a:r>
            <a:r>
              <a:rPr sz="1800" spc="-20" dirty="0">
                <a:latin typeface="Arial"/>
                <a:cs typeface="Arial"/>
              </a:rPr>
              <a:t>cell</a:t>
            </a:r>
            <a:endParaRPr sz="18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latin typeface="Arial"/>
                <a:cs typeface="Arial"/>
              </a:rPr>
              <a:t>utilization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2292" y="3183635"/>
            <a:ext cx="2740152" cy="26349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948673" y="5870244"/>
            <a:ext cx="18542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4025" marR="5080" indent="-441959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High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standard-cell </a:t>
            </a:r>
            <a:r>
              <a:rPr sz="1800" spc="-10" dirty="0">
                <a:latin typeface="Arial"/>
                <a:cs typeface="Arial"/>
              </a:rPr>
              <a:t>utilization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70203" y="6395564"/>
            <a:ext cx="26924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64652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5"/>
                </a:spcBef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A6C6-5076-BB6E-7532-F79D1377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7EF83-EE59-258F-01BB-35C246E84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341" y="2200122"/>
            <a:ext cx="599206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44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0D29E7-ECB4-5EBE-E6A0-80772219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091" y="748409"/>
            <a:ext cx="5362575" cy="484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06D15-B837-ABE8-1BAF-678511FAD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75925" y="5374439"/>
            <a:ext cx="5959929" cy="397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25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52FFA9-8606-1685-C841-1F13A83BE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012" y="1978311"/>
            <a:ext cx="3029373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1F365-CCDD-BBE0-C9E9-2851E828A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85" y="1858568"/>
            <a:ext cx="2717366" cy="357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48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DDCFF-52B2-E16B-8B79-2F9DB8DE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10266"/>
            <a:ext cx="3267531" cy="2876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DABC43-10BE-BCC9-2C5F-FD515426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531" y="1929161"/>
            <a:ext cx="2798273" cy="369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69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580CA0-5022-7554-D392-5FEFAE314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586977"/>
              </p:ext>
            </p:extLst>
          </p:nvPr>
        </p:nvGraphicFramePr>
        <p:xfrm>
          <a:off x="990600" y="203654"/>
          <a:ext cx="9252858" cy="8250232"/>
        </p:xfrm>
        <a:graphic>
          <a:graphicData uri="http://schemas.openxmlformats.org/drawingml/2006/table">
            <a:tbl>
              <a:tblPr/>
              <a:tblGrid>
                <a:gridCol w="3084286">
                  <a:extLst>
                    <a:ext uri="{9D8B030D-6E8A-4147-A177-3AD203B41FA5}">
                      <a16:colId xmlns:a16="http://schemas.microsoft.com/office/drawing/2014/main" val="487205319"/>
                    </a:ext>
                  </a:extLst>
                </a:gridCol>
                <a:gridCol w="3084286">
                  <a:extLst>
                    <a:ext uri="{9D8B030D-6E8A-4147-A177-3AD203B41FA5}">
                      <a16:colId xmlns:a16="http://schemas.microsoft.com/office/drawing/2014/main" val="2727304145"/>
                    </a:ext>
                  </a:extLst>
                </a:gridCol>
                <a:gridCol w="3084286">
                  <a:extLst>
                    <a:ext uri="{9D8B030D-6E8A-4147-A177-3AD203B41FA5}">
                      <a16:colId xmlns:a16="http://schemas.microsoft.com/office/drawing/2014/main" val="3406084184"/>
                    </a:ext>
                  </a:extLst>
                </a:gridCol>
              </a:tblGrid>
              <a:tr h="16829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Factor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Flip Chip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Wire Bonding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266025"/>
                  </a:ext>
                </a:extLst>
              </a:tr>
              <a:tr h="28878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Die Orientation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Active side normally faces the substrate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Active side normally faces upward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355774"/>
                  </a:ext>
                </a:extLst>
              </a:tr>
              <a:tr h="34902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Pad Layout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Can use an area array through redistribution and bump structures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Commonly uses perimeter bond pads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49882"/>
                  </a:ext>
                </a:extLst>
              </a:tr>
              <a:tr h="28878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Interconnect Structure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Solder bumps, copper pillars, or related structures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Fine gold, copper, aluminum, or other bond wires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60322"/>
                  </a:ext>
                </a:extLst>
              </a:tr>
              <a:tr h="28878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Connection Length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Short vertical or near-vertical connections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Longer looped connections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792689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Parasitics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Short bumps can reduce local resistance and inductance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Wire length and loop geometry contribute additional resistance and inductance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131809"/>
                  </a:ext>
                </a:extLst>
              </a:tr>
              <a:tr h="40926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I/O Scaling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Area-array connections can support large I/O counts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Scaling is constrained by pad pitch, die perimeter, and wire routing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11706"/>
                  </a:ext>
                </a:extLst>
              </a:tr>
              <a:tr h="40926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Assembly Method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Bumping or pillar formation, die alignment, bonding/reflow, optional underfill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Die attach followed by sequential wire bonding and encapsulation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849731"/>
                  </a:ext>
                </a:extLst>
              </a:tr>
              <a:tr h="349025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Inspection Access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Joints become hidden beneath the die after assembly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Bonds can normally be viewed before encapsulation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65913"/>
                  </a:ext>
                </a:extLst>
              </a:tr>
              <a:tr h="46951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Rework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Die-level rework becomes difficult, especially after underfill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Bond-wire repair may be possible during manufacturing before encapsulation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777378"/>
                  </a:ext>
                </a:extLst>
              </a:tr>
              <a:tr h="52975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Main Cost Drivers</a:t>
                      </a:r>
                      <a:b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1" i="0">
                        <a:solidFill>
                          <a:srgbClr val="FFFFFF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Wafer bumping, UBM/RDL, substrate complexity, alignment, bonding, underfill, inspection, yield</a:t>
                      </a:r>
                      <a:b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</a:br>
                      <a:endParaRPr lang="en-US" sz="1400" b="0" i="0">
                        <a:solidFill>
                          <a:srgbClr val="333333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b="0" i="0">
                          <a:solidFill>
                            <a:srgbClr val="333333"/>
                          </a:solidFill>
                          <a:effectLst/>
                          <a:latin typeface="helvetica" panose="020B0604020202020204" pitchFamily="34" charset="0"/>
                        </a:rPr>
                        <a:t>Bond count, bonding cycle time, wire material, equipment utilization, package design, yield</a:t>
                      </a:r>
                    </a:p>
                  </a:txBody>
                  <a:tcPr marL="25876" marR="25876" marT="25876" marB="258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04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966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472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CC654-3838-80B5-6B0A-B4CA4BBF4BE6}"/>
              </a:ext>
            </a:extLst>
          </p:cNvPr>
          <p:cNvSpPr txBox="1"/>
          <p:nvPr/>
        </p:nvSpPr>
        <p:spPr>
          <a:xfrm>
            <a:off x="1306284" y="917807"/>
            <a:ext cx="87085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While Wire Bonding relies on peripheral connections using fine </a:t>
            </a:r>
            <a:r>
              <a:rPr lang="en-US" sz="1800" b="0" i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metal wires (Gold, Copper, or Aluminum</a:t>
            </a:r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), Flip Chip technology involves "</a:t>
            </a:r>
            <a:r>
              <a:rPr lang="en-US" sz="1800" b="0" i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</a:rPr>
              <a:t>flipping" the die face-down to connect directly to the substrate via conductive "bumps</a:t>
            </a:r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" distributed across the entire surface of the chip.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32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3B8981-5BE3-A512-75EF-6E51E0235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803454"/>
              </p:ext>
            </p:extLst>
          </p:nvPr>
        </p:nvGraphicFramePr>
        <p:xfrm>
          <a:off x="1698171" y="859971"/>
          <a:ext cx="8991600" cy="5170711"/>
        </p:xfrm>
        <a:graphic>
          <a:graphicData uri="http://schemas.openxmlformats.org/drawingml/2006/table">
            <a:tbl>
              <a:tblPr/>
              <a:tblGrid>
                <a:gridCol w="2997200">
                  <a:extLst>
                    <a:ext uri="{9D8B030D-6E8A-4147-A177-3AD203B41FA5}">
                      <a16:colId xmlns:a16="http://schemas.microsoft.com/office/drawing/2014/main" val="4124039267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189078950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1560900163"/>
                    </a:ext>
                  </a:extLst>
                </a:gridCol>
              </a:tblGrid>
              <a:tr h="591727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Feature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Wire Bonding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Inter"/>
                        </a:rPr>
                        <a:t>Flip Chip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40002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Interconnect Method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Loops of fine wire (Au, Cu, Al)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Solder bumps or copper pillars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954177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Connection Type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Peripheral (usually around the edges)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Area Array (entire die surface)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962612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I/O Density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Limited (lower pin count)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High (maximum I/O per unit area)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08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Signal Integrity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Higher inductance (due to wire length)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Low inductance (short path)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552390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Thermal Performance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Moderate (relies on substrate)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Excellent (direct thermal path)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579518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Footprint Size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Larger (requires space for loops)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Minimal (package-scale or near-die size)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56962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Process Maturity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Very High (Standard for decades)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High (Standard for HPC &amp; Mobile)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971559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Repairability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Possible (wires can be replaced)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444444"/>
                          </a:solidFill>
                          <a:effectLst/>
                          <a:latin typeface="Inter"/>
                        </a:rPr>
                        <a:t>Difficult to Impossible (underfilled)</a:t>
                      </a:r>
                    </a:p>
                  </a:txBody>
                  <a:tcPr marL="30773" marR="30773" marT="18464" marB="1846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1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12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0BE5F9-CA80-62FA-E5B3-6DDDC24CE1B7}"/>
              </a:ext>
            </a:extLst>
          </p:cNvPr>
          <p:cNvGraphicFramePr>
            <a:graphicFrameLocks noGrp="1"/>
          </p:cNvGraphicFramePr>
          <p:nvPr/>
        </p:nvGraphicFramePr>
        <p:xfrm>
          <a:off x="3835399" y="2194719"/>
          <a:ext cx="4521201" cy="3613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7067">
                  <a:extLst>
                    <a:ext uri="{9D8B030D-6E8A-4147-A177-3AD203B41FA5}">
                      <a16:colId xmlns:a16="http://schemas.microsoft.com/office/drawing/2014/main" val="3089725602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4228756207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1509126567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Application Tier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Preferred Technology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Cost Logic</a:t>
                      </a:r>
                      <a:endParaRPr lang="en-US" sz="1200" b="0" i="0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extLst>
                  <a:ext uri="{0D108BD9-81ED-4DB2-BD59-A6C34878D82A}">
                    <a16:rowId xmlns:a16="http://schemas.microsoft.com/office/drawing/2014/main" val="69871127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Low-End/Discrete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Wire Bonding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Low I/O count makes leadframe-based wire bonding unbeatable in price.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extLst>
                  <a:ext uri="{0D108BD9-81ED-4DB2-BD59-A6C34878D82A}">
                    <a16:rowId xmlns:a16="http://schemas.microsoft.com/office/drawing/2014/main" val="312702773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Mid-Range IoT/MCU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Wire Bonding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Mature infrastructure and high yield rates keep total cost of ownership (TCO) low.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extLst>
                  <a:ext uri="{0D108BD9-81ED-4DB2-BD59-A6C34878D82A}">
                    <a16:rowId xmlns:a16="http://schemas.microsoft.com/office/drawing/2014/main" val="153164804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High-Performance (SoC/GPU)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Flip Chip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tc>
                  <a:txBody>
                    <a:bodyPr/>
                    <a:lstStyle/>
                    <a:p>
                      <a:pPr marL="0" marR="0" algn="ctr" fontAlgn="ctr" latinLnBrk="0">
                        <a:lnSpc>
                          <a:spcPct val="125000"/>
                        </a:lnSpc>
                        <a:buNone/>
                      </a:pPr>
                      <a:r>
                        <a:rPr lang="en-US" sz="1200">
                          <a:effectLst/>
                        </a:rPr>
                        <a:t>Although the unit cost is higher, the performance gains (speed/thermal) justify the premium.</a:t>
                      </a:r>
                      <a:endParaRPr lang="en-US" sz="1200" b="0" i="0">
                        <a:solidFill>
                          <a:srgbClr val="444444"/>
                        </a:solidFill>
                        <a:effectLst/>
                        <a:latin typeface="Inter"/>
                      </a:endParaRPr>
                    </a:p>
                  </a:txBody>
                  <a:tcPr marL="31750" marR="31750" marT="19050" marB="19050" anchor="ctr"/>
                </a:tc>
                <a:extLst>
                  <a:ext uri="{0D108BD9-81ED-4DB2-BD59-A6C34878D82A}">
                    <a16:rowId xmlns:a16="http://schemas.microsoft.com/office/drawing/2014/main" val="315991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24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1056</Words>
  <Application>Microsoft Office PowerPoint</Application>
  <PresentationFormat>Widescreen</PresentationFormat>
  <Paragraphs>134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Aptos</vt:lpstr>
      <vt:lpstr>Aptos Display</vt:lpstr>
      <vt:lpstr>Arial</vt:lpstr>
      <vt:lpstr>Arial Narrow</vt:lpstr>
      <vt:lpstr>Gill Sans MT</vt:lpstr>
      <vt:lpstr>helvetica</vt:lpstr>
      <vt:lpstr>Inter</vt:lpstr>
      <vt:lpstr>Symbol</vt:lpstr>
      <vt:lpstr>Tahoma</vt:lpstr>
      <vt:lpstr>Times New Roman</vt:lpstr>
      <vt:lpstr>Verdana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Aspect Ratio: A Factor in Determining Core Size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Floorplanning: Area Utilization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Kiều Trịnh</dc:creator>
  <cp:lastModifiedBy>Kiều Trịnh</cp:lastModifiedBy>
  <cp:revision>1</cp:revision>
  <dcterms:created xsi:type="dcterms:W3CDTF">2026-10-02T13:44:37Z</dcterms:created>
  <dcterms:modified xsi:type="dcterms:W3CDTF">2026-10-04T12:24:17Z</dcterms:modified>
</cp:coreProperties>
</file>